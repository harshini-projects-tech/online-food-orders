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10287000" cx="18288000"/>
  <p:notesSz cx="6858000" cy="9144000"/>
  <p:embeddedFontLst>
    <p:embeddedFont>
      <p:font typeface="Source Sans 3"/>
      <p:regular r:id="rId22"/>
      <p:bold r:id="rId23"/>
      <p:italic r:id="rId24"/>
      <p:boldItalic r:id="rId25"/>
    </p:embeddedFont>
    <p:embeddedFont>
      <p:font typeface="Lora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36B0008-C4DF-4A8D-9502-7F4B8CF02A44}">
  <a:tblStyle styleId="{636B0008-C4DF-4A8D-9502-7F4B8CF02A44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SourceSans3-regular.fntdata"/><Relationship Id="rId21" Type="http://schemas.openxmlformats.org/officeDocument/2006/relationships/slide" Target="slides/slide15.xml"/><Relationship Id="rId24" Type="http://schemas.openxmlformats.org/officeDocument/2006/relationships/font" Target="fonts/SourceSans3-italic.fntdata"/><Relationship Id="rId23" Type="http://schemas.openxmlformats.org/officeDocument/2006/relationships/font" Target="fonts/SourceSans3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Lora-regular.fntdata"/><Relationship Id="rId25" Type="http://schemas.openxmlformats.org/officeDocument/2006/relationships/font" Target="fonts/SourceSans3-boldItalic.fntdata"/><Relationship Id="rId28" Type="http://schemas.openxmlformats.org/officeDocument/2006/relationships/font" Target="fonts/Lora-italic.fntdata"/><Relationship Id="rId27" Type="http://schemas.openxmlformats.org/officeDocument/2006/relationships/font" Target="fonts/Lora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Lora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86" name="Google Shape;86;p1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87" name="Google Shape;87;p1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p1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</a:t>
            </a:r>
            <a:endParaRPr/>
          </a:p>
        </p:txBody>
      </p:sp>
      <p:sp>
        <p:nvSpPr>
          <p:cNvPr id="89" name="Google Shape;89;p1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90" name="Google Shape;90;p1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09" name="Google Shape;109;p2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10" name="Google Shape;110;p2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" name="Google Shape;111;p2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</a:t>
            </a:r>
            <a:endParaRPr/>
          </a:p>
        </p:txBody>
      </p:sp>
      <p:sp>
        <p:nvSpPr>
          <p:cNvPr id="112" name="Google Shape;112;p2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13" name="Google Shape;113;p2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56" name="Google Shape;156;p3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57" name="Google Shape;157;p3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p3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</a:t>
            </a:r>
            <a:endParaRPr/>
          </a:p>
        </p:txBody>
      </p:sp>
      <p:sp>
        <p:nvSpPr>
          <p:cNvPr id="159" name="Google Shape;159;p3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60" name="Google Shape;160;p3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4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13" name="Google Shape;213;p4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14" name="Google Shape;214;p4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5" name="Google Shape;215;p4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</a:t>
            </a:r>
            <a:endParaRPr/>
          </a:p>
        </p:txBody>
      </p:sp>
      <p:sp>
        <p:nvSpPr>
          <p:cNvPr id="216" name="Google Shape;216;p4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17" name="Google Shape;217;p4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5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48" name="Google Shape;248;p5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49" name="Google Shape;249;p5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0" name="Google Shape;250;p5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5</a:t>
            </a:r>
            <a:endParaRPr/>
          </a:p>
        </p:txBody>
      </p:sp>
      <p:sp>
        <p:nvSpPr>
          <p:cNvPr id="251" name="Google Shape;251;p5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52" name="Google Shape;252;p5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6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77" name="Google Shape;277;p6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78" name="Google Shape;278;p6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9" name="Google Shape;279;p6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6</a:t>
            </a:r>
            <a:endParaRPr/>
          </a:p>
        </p:txBody>
      </p:sp>
      <p:sp>
        <p:nvSpPr>
          <p:cNvPr id="280" name="Google Shape;280;p6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81" name="Google Shape;281;p6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7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96" name="Google Shape;296;p7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97" name="Google Shape;297;p7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8" name="Google Shape;298;p7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7</a:t>
            </a:r>
            <a:endParaRPr/>
          </a:p>
        </p:txBody>
      </p:sp>
      <p:sp>
        <p:nvSpPr>
          <p:cNvPr id="299" name="Google Shape;299;p7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00" name="Google Shape;300;p7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8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26" name="Google Shape;326;p8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327" name="Google Shape;327;p8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8" name="Google Shape;328;p8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8</a:t>
            </a:r>
            <a:endParaRPr/>
          </a:p>
        </p:txBody>
      </p:sp>
      <p:sp>
        <p:nvSpPr>
          <p:cNvPr id="329" name="Google Shape;329;p8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30" name="Google Shape;330;p8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9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62" name="Google Shape;362;p9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363" name="Google Shape;363;p9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4" name="Google Shape;364;p9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9</a:t>
            </a:r>
            <a:endParaRPr/>
          </a:p>
        </p:txBody>
      </p:sp>
      <p:sp>
        <p:nvSpPr>
          <p:cNvPr id="365" name="Google Shape;365;p9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66" name="Google Shape;366;p9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10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95" name="Google Shape;395;p10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396" name="Google Shape;396;p10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7" name="Google Shape;397;p10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</a:t>
            </a:r>
            <a:endParaRPr/>
          </a:p>
        </p:txBody>
      </p:sp>
      <p:sp>
        <p:nvSpPr>
          <p:cNvPr id="398" name="Google Shape;398;p10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99" name="Google Shape;399;p10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11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418" name="Google Shape;418;p11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419" name="Google Shape;419;p11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0" name="Google Shape;420;p11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11</a:t>
            </a:r>
            <a:endParaRPr/>
          </a:p>
        </p:txBody>
      </p:sp>
      <p:sp>
        <p:nvSpPr>
          <p:cNvPr id="421" name="Google Shape;421;p11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422" name="Google Shape;422;p11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12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433" name="Google Shape;433;p12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434" name="Google Shape;434;p12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5" name="Google Shape;435;p12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12</a:t>
            </a:r>
            <a:endParaRPr/>
          </a:p>
        </p:txBody>
      </p:sp>
      <p:sp>
        <p:nvSpPr>
          <p:cNvPr id="436" name="Google Shape;436;p12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437" name="Google Shape;437;p12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13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470" name="Google Shape;470;p13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471" name="Google Shape;471;p13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2" name="Google Shape;472;p13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13</a:t>
            </a:r>
            <a:endParaRPr/>
          </a:p>
        </p:txBody>
      </p:sp>
      <p:sp>
        <p:nvSpPr>
          <p:cNvPr id="473" name="Google Shape;473;p13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474" name="Google Shape;474;p13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14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492" name="Google Shape;492;p14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493" name="Google Shape;493;p14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4" name="Google Shape;494;p14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14</a:t>
            </a:r>
            <a:endParaRPr/>
          </a:p>
        </p:txBody>
      </p:sp>
      <p:sp>
        <p:nvSpPr>
          <p:cNvPr id="495" name="Google Shape;495;p14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496" name="Google Shape;496;p14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15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513" name="Google Shape;513;p15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514" name="Google Shape;514;p15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5" name="Google Shape;515;p15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15</a:t>
            </a:r>
            <a:endParaRPr/>
          </a:p>
        </p:txBody>
      </p:sp>
      <p:sp>
        <p:nvSpPr>
          <p:cNvPr id="516" name="Google Shape;516;p15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517" name="Google Shape;517;p15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0" name="Google Shape;40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3.png"/><Relationship Id="rId5" Type="http://schemas.openxmlformats.org/officeDocument/2006/relationships/image" Target="../media/image2.jpg"/><Relationship Id="rId6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Relationship Id="rId4" Type="http://schemas.openxmlformats.org/officeDocument/2006/relationships/image" Target="../media/image5.png"/><Relationship Id="rId11" Type="http://schemas.openxmlformats.org/officeDocument/2006/relationships/image" Target="../media/image13.png"/><Relationship Id="rId10" Type="http://schemas.openxmlformats.org/officeDocument/2006/relationships/image" Target="../media/image10.png"/><Relationship Id="rId9" Type="http://schemas.openxmlformats.org/officeDocument/2006/relationships/image" Target="../media/image11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Relationship Id="rId4" Type="http://schemas.openxmlformats.org/officeDocument/2006/relationships/image" Target="../media/image12.png"/><Relationship Id="rId10" Type="http://schemas.openxmlformats.org/officeDocument/2006/relationships/image" Target="../media/image19.png"/><Relationship Id="rId9" Type="http://schemas.openxmlformats.org/officeDocument/2006/relationships/image" Target="../media/image17.png"/><Relationship Id="rId5" Type="http://schemas.openxmlformats.org/officeDocument/2006/relationships/image" Target="../media/image16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8" Type="http://schemas.openxmlformats.org/officeDocument/2006/relationships/image" Target="../media/image1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g"/><Relationship Id="rId4" Type="http://schemas.openxmlformats.org/officeDocument/2006/relationships/image" Target="../media/image2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g"/><Relationship Id="rId4" Type="http://schemas.openxmlformats.org/officeDocument/2006/relationships/image" Target="../media/image21.png"/><Relationship Id="rId5" Type="http://schemas.openxmlformats.org/officeDocument/2006/relationships/image" Target="../media/image22.jpg"/><Relationship Id="rId6" Type="http://schemas.openxmlformats.org/officeDocument/2006/relationships/image" Target="../media/image23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jpg"/><Relationship Id="rId4" Type="http://schemas.openxmlformats.org/officeDocument/2006/relationships/image" Target="../media/image25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7.png"/><Relationship Id="rId4" Type="http://schemas.openxmlformats.org/officeDocument/2006/relationships/image" Target="../media/image26.png"/><Relationship Id="rId10" Type="http://schemas.openxmlformats.org/officeDocument/2006/relationships/image" Target="../media/image33.png"/><Relationship Id="rId9" Type="http://schemas.openxmlformats.org/officeDocument/2006/relationships/image" Target="../media/image32.png"/><Relationship Id="rId5" Type="http://schemas.openxmlformats.org/officeDocument/2006/relationships/image" Target="../media/image28.png"/><Relationship Id="rId6" Type="http://schemas.openxmlformats.org/officeDocument/2006/relationships/image" Target="../media/image29.png"/><Relationship Id="rId7" Type="http://schemas.openxmlformats.org/officeDocument/2006/relationships/image" Target="../media/image31.png"/><Relationship Id="rId8" Type="http://schemas.openxmlformats.org/officeDocument/2006/relationships/image" Target="../media/image3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4.png"/><Relationship Id="rId4" Type="http://schemas.openxmlformats.org/officeDocument/2006/relationships/image" Target="../media/image3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8.png"/><Relationship Id="rId4" Type="http://schemas.openxmlformats.org/officeDocument/2006/relationships/image" Target="../media/image37.png"/><Relationship Id="rId5" Type="http://schemas.openxmlformats.org/officeDocument/2006/relationships/image" Target="../media/image36.png"/><Relationship Id="rId6" Type="http://schemas.openxmlformats.org/officeDocument/2006/relationships/image" Target="../media/image39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1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3.png"/><Relationship Id="rId4" Type="http://schemas.openxmlformats.org/officeDocument/2006/relationships/image" Target="../media/image40.png"/><Relationship Id="rId10" Type="http://schemas.openxmlformats.org/officeDocument/2006/relationships/image" Target="../media/image50.jpg"/><Relationship Id="rId9" Type="http://schemas.openxmlformats.org/officeDocument/2006/relationships/image" Target="../media/image46.png"/><Relationship Id="rId5" Type="http://schemas.openxmlformats.org/officeDocument/2006/relationships/image" Target="../media/image45.png"/><Relationship Id="rId6" Type="http://schemas.openxmlformats.org/officeDocument/2006/relationships/image" Target="../media/image42.png"/><Relationship Id="rId7" Type="http://schemas.openxmlformats.org/officeDocument/2006/relationships/image" Target="../media/image44.png"/><Relationship Id="rId8" Type="http://schemas.openxmlformats.org/officeDocument/2006/relationships/image" Target="../media/image4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7.png"/><Relationship Id="rId4" Type="http://schemas.openxmlformats.org/officeDocument/2006/relationships/image" Target="../media/image54.png"/><Relationship Id="rId5" Type="http://schemas.openxmlformats.org/officeDocument/2006/relationships/image" Target="../media/image48.png"/><Relationship Id="rId6" Type="http://schemas.openxmlformats.org/officeDocument/2006/relationships/image" Target="../media/image52.jpg"/><Relationship Id="rId7" Type="http://schemas.openxmlformats.org/officeDocument/2006/relationships/image" Target="../media/image57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jpg"/><Relationship Id="rId4" Type="http://schemas.openxmlformats.org/officeDocument/2006/relationships/image" Target="../media/image53.png"/><Relationship Id="rId5" Type="http://schemas.openxmlformats.org/officeDocument/2006/relationships/image" Target="../media/image56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jpg"/><Relationship Id="rId4" Type="http://schemas.openxmlformats.org/officeDocument/2006/relationships/image" Target="../media/image55.png"/><Relationship Id="rId5" Type="http://schemas.openxmlformats.org/officeDocument/2006/relationships/image" Target="../media/image5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3"/>
          <p:cNvSpPr/>
          <p:nvPr/>
        </p:nvSpPr>
        <p:spPr>
          <a:xfrm>
            <a:off x="0" y="0"/>
            <a:ext cx="18301811" cy="10295001"/>
          </a:xfrm>
          <a:custGeom>
            <a:rect b="b" l="l" r="r" t="t"/>
            <a:pathLst>
              <a:path extrusionOk="0" h="13726668" w="24402414">
                <a:moveTo>
                  <a:pt x="0" y="0"/>
                </a:moveTo>
                <a:lnTo>
                  <a:pt x="24402414" y="0"/>
                </a:lnTo>
                <a:lnTo>
                  <a:pt x="24402414" y="13726668"/>
                </a:lnTo>
                <a:lnTo>
                  <a:pt x="0" y="13726668"/>
                </a:lnTo>
                <a:close/>
              </a:path>
            </a:pathLst>
          </a:custGeom>
          <a:solidFill>
            <a:srgbClr val="181A24"/>
          </a:solidFill>
          <a:ln>
            <a:noFill/>
          </a:ln>
        </p:spPr>
      </p:sp>
      <p:sp>
        <p:nvSpPr>
          <p:cNvPr id="93" name="Google Shape;93;p13"/>
          <p:cNvSpPr/>
          <p:nvPr/>
        </p:nvSpPr>
        <p:spPr>
          <a:xfrm>
            <a:off x="0" y="0"/>
            <a:ext cx="18301811" cy="10295001"/>
          </a:xfrm>
          <a:custGeom>
            <a:rect b="b" l="l" r="r" t="t"/>
            <a:pathLst>
              <a:path extrusionOk="0" h="13726668" w="24402414">
                <a:moveTo>
                  <a:pt x="0" y="0"/>
                </a:moveTo>
                <a:lnTo>
                  <a:pt x="24402414" y="0"/>
                </a:lnTo>
                <a:lnTo>
                  <a:pt x="24402414" y="13726668"/>
                </a:lnTo>
                <a:lnTo>
                  <a:pt x="0" y="13726668"/>
                </a:lnTo>
                <a:close/>
              </a:path>
            </a:pathLst>
          </a:custGeom>
          <a:solidFill>
            <a:srgbClr val="252833"/>
          </a:solidFill>
          <a:ln>
            <a:noFill/>
          </a:ln>
        </p:spPr>
      </p:sp>
      <p:sp>
        <p:nvSpPr>
          <p:cNvPr descr="preencoded.png" id="94" name="Google Shape;94;p13"/>
          <p:cNvSpPr/>
          <p:nvPr/>
        </p:nvSpPr>
        <p:spPr>
          <a:xfrm>
            <a:off x="0" y="0"/>
            <a:ext cx="18301811" cy="10295001"/>
          </a:xfrm>
          <a:custGeom>
            <a:rect b="b" l="l" r="r" t="t"/>
            <a:pathLst>
              <a:path extrusionOk="0" h="13726668" w="24402414">
                <a:moveTo>
                  <a:pt x="0" y="0"/>
                </a:moveTo>
                <a:lnTo>
                  <a:pt x="24402414" y="0"/>
                </a:lnTo>
                <a:lnTo>
                  <a:pt x="24402414" y="13726668"/>
                </a:lnTo>
                <a:lnTo>
                  <a:pt x="0" y="137266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1" r="-1" t="0"/>
            </a:stretch>
          </a:blipFill>
          <a:ln>
            <a:noFill/>
          </a:ln>
        </p:spPr>
      </p:sp>
      <p:sp>
        <p:nvSpPr>
          <p:cNvPr id="95" name="Google Shape;95;p13"/>
          <p:cNvSpPr/>
          <p:nvPr/>
        </p:nvSpPr>
        <p:spPr>
          <a:xfrm>
            <a:off x="0" y="0"/>
            <a:ext cx="18301811" cy="10295001"/>
          </a:xfrm>
          <a:custGeom>
            <a:rect b="b" l="l" r="r" t="t"/>
            <a:pathLst>
              <a:path extrusionOk="0" h="13726668" w="24402414">
                <a:moveTo>
                  <a:pt x="0" y="0"/>
                </a:moveTo>
                <a:lnTo>
                  <a:pt x="24402414" y="0"/>
                </a:lnTo>
                <a:lnTo>
                  <a:pt x="24402414" y="13726668"/>
                </a:lnTo>
                <a:lnTo>
                  <a:pt x="0" y="13726668"/>
                </a:lnTo>
                <a:close/>
              </a:path>
            </a:pathLst>
          </a:custGeom>
          <a:solidFill>
            <a:srgbClr val="252833">
              <a:alpha val="12157"/>
            </a:srgbClr>
          </a:solidFill>
          <a:ln>
            <a:noFill/>
          </a:ln>
        </p:spPr>
      </p:sp>
      <p:sp>
        <p:nvSpPr>
          <p:cNvPr id="96" name="Google Shape;96;p13"/>
          <p:cNvSpPr/>
          <p:nvPr/>
        </p:nvSpPr>
        <p:spPr>
          <a:xfrm>
            <a:off x="1047950" y="2326958"/>
            <a:ext cx="2434590" cy="397954"/>
          </a:xfrm>
          <a:custGeom>
            <a:rect b="b" l="l" r="r" t="t"/>
            <a:pathLst>
              <a:path extrusionOk="0" h="530606" w="3246120">
                <a:moveTo>
                  <a:pt x="0" y="41910"/>
                </a:moveTo>
                <a:cubicBezTo>
                  <a:pt x="0" y="18796"/>
                  <a:pt x="18796" y="0"/>
                  <a:pt x="41910" y="0"/>
                </a:cubicBezTo>
                <a:lnTo>
                  <a:pt x="3204210" y="0"/>
                </a:lnTo>
                <a:cubicBezTo>
                  <a:pt x="3227324" y="0"/>
                  <a:pt x="3246120" y="18796"/>
                  <a:pt x="3246120" y="41910"/>
                </a:cubicBezTo>
                <a:lnTo>
                  <a:pt x="3246120" y="488696"/>
                </a:lnTo>
                <a:cubicBezTo>
                  <a:pt x="3246120" y="511810"/>
                  <a:pt x="3227324" y="530606"/>
                  <a:pt x="3204210" y="530606"/>
                </a:cubicBezTo>
                <a:lnTo>
                  <a:pt x="41910" y="530606"/>
                </a:lnTo>
                <a:cubicBezTo>
                  <a:pt x="18796" y="530606"/>
                  <a:pt x="0" y="511810"/>
                  <a:pt x="0" y="488696"/>
                </a:cubicBezTo>
                <a:close/>
              </a:path>
            </a:pathLst>
          </a:custGeom>
          <a:solidFill>
            <a:srgbClr val="4904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descr="preencoded.png" id="97" name="Google Shape;97;p13"/>
          <p:cNvSpPr/>
          <p:nvPr/>
        </p:nvSpPr>
        <p:spPr>
          <a:xfrm>
            <a:off x="1205084" y="2421093"/>
            <a:ext cx="209550" cy="209550"/>
          </a:xfrm>
          <a:custGeom>
            <a:rect b="b" l="l" r="r" t="t"/>
            <a:pathLst>
              <a:path extrusionOk="0" h="279400" w="279400">
                <a:moveTo>
                  <a:pt x="0" y="0"/>
                </a:moveTo>
                <a:lnTo>
                  <a:pt x="279400" y="0"/>
                </a:lnTo>
                <a:lnTo>
                  <a:pt x="279400" y="279400"/>
                </a:lnTo>
                <a:lnTo>
                  <a:pt x="0" y="2794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9" l="-1" r="-7" t="0"/>
            </a:stretch>
          </a:blipFill>
          <a:ln>
            <a:noFill/>
          </a:ln>
        </p:spPr>
      </p:sp>
      <p:sp>
        <p:nvSpPr>
          <p:cNvPr id="98" name="Google Shape;98;p13"/>
          <p:cNvSpPr txBox="1"/>
          <p:nvPr/>
        </p:nvSpPr>
        <p:spPr>
          <a:xfrm>
            <a:off x="1519342" y="2414978"/>
            <a:ext cx="2721150" cy="231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1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6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DBMS MINI PROJECT</a:t>
            </a:r>
            <a:endParaRPr/>
          </a:p>
        </p:txBody>
      </p:sp>
      <p:sp>
        <p:nvSpPr>
          <p:cNvPr id="99" name="Google Shape;99;p13"/>
          <p:cNvSpPr/>
          <p:nvPr/>
        </p:nvSpPr>
        <p:spPr>
          <a:xfrm>
            <a:off x="3608689" y="2322195"/>
            <a:ext cx="1667732" cy="407480"/>
          </a:xfrm>
          <a:custGeom>
            <a:rect b="b" l="l" r="r" t="t"/>
            <a:pathLst>
              <a:path extrusionOk="0" h="543306" w="2223643">
                <a:moveTo>
                  <a:pt x="0" y="42926"/>
                </a:moveTo>
                <a:cubicBezTo>
                  <a:pt x="0" y="19177"/>
                  <a:pt x="19177" y="0"/>
                  <a:pt x="42926" y="0"/>
                </a:cubicBezTo>
                <a:lnTo>
                  <a:pt x="2180717" y="0"/>
                </a:lnTo>
                <a:cubicBezTo>
                  <a:pt x="2204466" y="0"/>
                  <a:pt x="2223643" y="19177"/>
                  <a:pt x="2223643" y="42926"/>
                </a:cubicBezTo>
                <a:lnTo>
                  <a:pt x="2223643" y="500380"/>
                </a:lnTo>
                <a:cubicBezTo>
                  <a:pt x="2223643" y="524129"/>
                  <a:pt x="2204466" y="543306"/>
                  <a:pt x="2180717" y="543306"/>
                </a:cubicBezTo>
                <a:lnTo>
                  <a:pt x="42926" y="543306"/>
                </a:lnTo>
                <a:cubicBezTo>
                  <a:pt x="19177" y="543306"/>
                  <a:pt x="0" y="524129"/>
                  <a:pt x="0" y="500380"/>
                </a:cubicBezTo>
                <a:close/>
              </a:path>
            </a:pathLst>
          </a:custGeom>
          <a:blipFill rotWithShape="1">
            <a:blip r:embed="rId5">
              <a:alphaModFix amt="0"/>
            </a:blip>
            <a:stretch>
              <a:fillRect b="-29752" l="0" r="2" t="-29741"/>
            </a:stretch>
          </a:blipFill>
          <a:ln cap="sq" cmpd="sng" w="9525">
            <a:solidFill>
              <a:srgbClr val="F98AC7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descr="preencoded.png" id="100" name="Google Shape;100;p13"/>
          <p:cNvSpPr/>
          <p:nvPr/>
        </p:nvSpPr>
        <p:spPr>
          <a:xfrm>
            <a:off x="3770586" y="2421093"/>
            <a:ext cx="209550" cy="209550"/>
          </a:xfrm>
          <a:custGeom>
            <a:rect b="b" l="l" r="r" t="t"/>
            <a:pathLst>
              <a:path extrusionOk="0" h="279400" w="279400">
                <a:moveTo>
                  <a:pt x="0" y="0"/>
                </a:moveTo>
                <a:lnTo>
                  <a:pt x="279400" y="0"/>
                </a:lnTo>
                <a:lnTo>
                  <a:pt x="279400" y="279400"/>
                </a:lnTo>
                <a:lnTo>
                  <a:pt x="0" y="2794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-9" l="-1" r="-7" t="0"/>
            </a:stretch>
          </a:blipFill>
          <a:ln>
            <a:noFill/>
          </a:ln>
        </p:spPr>
      </p:sp>
      <p:sp>
        <p:nvSpPr>
          <p:cNvPr id="101" name="Google Shape;101;p13"/>
          <p:cNvSpPr txBox="1"/>
          <p:nvPr/>
        </p:nvSpPr>
        <p:spPr>
          <a:xfrm>
            <a:off x="4084853" y="2414978"/>
            <a:ext cx="1944719" cy="231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1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6" u="none" cap="none" strike="noStrike">
                <a:solidFill>
                  <a:srgbClr val="F98AC7"/>
                </a:solidFill>
                <a:latin typeface="Source Sans 3"/>
                <a:ea typeface="Source Sans 3"/>
                <a:cs typeface="Source Sans 3"/>
                <a:sym typeface="Source Sans 3"/>
              </a:rPr>
              <a:t>FOOD TECH</a:t>
            </a:r>
            <a:endParaRPr/>
          </a:p>
        </p:txBody>
      </p:sp>
      <p:sp>
        <p:nvSpPr>
          <p:cNvPr id="102" name="Google Shape;102;p13"/>
          <p:cNvSpPr txBox="1"/>
          <p:nvPr/>
        </p:nvSpPr>
        <p:spPr>
          <a:xfrm>
            <a:off x="1047950" y="2820124"/>
            <a:ext cx="16205949" cy="7800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48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803" u="none" cap="none" strike="noStrike">
                <a:solidFill>
                  <a:srgbClr val="F98AC7"/>
                </a:solidFill>
                <a:latin typeface="Lora"/>
                <a:ea typeface="Lora"/>
                <a:cs typeface="Lora"/>
                <a:sym typeface="Lora"/>
              </a:rPr>
              <a:t>ONLINE FOOD ORDERING SYSTEM</a:t>
            </a:r>
            <a:endParaRPr/>
          </a:p>
        </p:txBody>
      </p:sp>
      <p:sp>
        <p:nvSpPr>
          <p:cNvPr id="103" name="Google Shape;103;p13"/>
          <p:cNvSpPr txBox="1"/>
          <p:nvPr/>
        </p:nvSpPr>
        <p:spPr>
          <a:xfrm>
            <a:off x="1047950" y="3704844"/>
            <a:ext cx="16205949" cy="3853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48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1" u="none" cap="none" strike="noStrike">
                <a:solidFill>
                  <a:srgbClr val="F98AC7"/>
                </a:solidFill>
                <a:latin typeface="Lora"/>
                <a:ea typeface="Lora"/>
                <a:cs typeface="Lora"/>
                <a:sym typeface="Lora"/>
              </a:rPr>
              <a:t>A Relational Database Management System — DBMS Mini Project</a:t>
            </a:r>
            <a:endParaRPr/>
          </a:p>
        </p:txBody>
      </p:sp>
      <p:sp>
        <p:nvSpPr>
          <p:cNvPr id="104" name="Google Shape;104;p13"/>
          <p:cNvSpPr/>
          <p:nvPr/>
        </p:nvSpPr>
        <p:spPr>
          <a:xfrm>
            <a:off x="1047950" y="4548464"/>
            <a:ext cx="16205930" cy="28575"/>
          </a:xfrm>
          <a:custGeom>
            <a:rect b="b" l="l" r="r" t="t"/>
            <a:pathLst>
              <a:path extrusionOk="0" h="38100" w="21607907">
                <a:moveTo>
                  <a:pt x="0" y="19050"/>
                </a:moveTo>
                <a:cubicBezTo>
                  <a:pt x="0" y="8509"/>
                  <a:pt x="8509" y="0"/>
                  <a:pt x="19050" y="0"/>
                </a:cubicBezTo>
                <a:lnTo>
                  <a:pt x="21588857" y="0"/>
                </a:lnTo>
                <a:cubicBezTo>
                  <a:pt x="21599398" y="0"/>
                  <a:pt x="21607907" y="8509"/>
                  <a:pt x="21607907" y="19050"/>
                </a:cubicBezTo>
                <a:cubicBezTo>
                  <a:pt x="21607907" y="29591"/>
                  <a:pt x="21599398" y="38100"/>
                  <a:pt x="21588857" y="38100"/>
                </a:cubicBezTo>
                <a:lnTo>
                  <a:pt x="19050" y="38100"/>
                </a:lnTo>
                <a:cubicBezTo>
                  <a:pt x="8509" y="38100"/>
                  <a:pt x="0" y="29591"/>
                  <a:pt x="0" y="19050"/>
                </a:cubicBezTo>
                <a:close/>
              </a:path>
            </a:pathLst>
          </a:custGeom>
          <a:solidFill>
            <a:srgbClr val="D6E5EF">
              <a:alpha val="2470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3"/>
          <p:cNvSpPr txBox="1"/>
          <p:nvPr/>
        </p:nvSpPr>
        <p:spPr>
          <a:xfrm>
            <a:off x="1047950" y="5035363"/>
            <a:ext cx="16205949" cy="3853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48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1" u="none" cap="none" strike="noStrike">
                <a:solidFill>
                  <a:srgbClr val="F98AC7"/>
                </a:solidFill>
                <a:latin typeface="Lora"/>
                <a:ea typeface="Lora"/>
                <a:cs typeface="Lora"/>
                <a:sym typeface="Lora"/>
              </a:rPr>
              <a:t>Group Members</a:t>
            </a:r>
            <a:endParaRPr/>
          </a:p>
        </p:txBody>
      </p:sp>
      <p:sp>
        <p:nvSpPr>
          <p:cNvPr id="106" name="Google Shape;106;p13"/>
          <p:cNvSpPr txBox="1"/>
          <p:nvPr/>
        </p:nvSpPr>
        <p:spPr>
          <a:xfrm>
            <a:off x="1047950" y="5737403"/>
            <a:ext cx="16205949" cy="15167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83523" lvl="1" marL="367046" marR="0" rtl="0" algn="l">
              <a:lnSpc>
                <a:spcPct val="159624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2026"/>
              <a:buFont typeface="Arial"/>
              <a:buChar char="•"/>
            </a:pPr>
            <a:r>
              <a:rPr b="0" i="0" lang="en-US" sz="2026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Pingali Harshini Venkata Naga Deepika</a:t>
            </a:r>
            <a:endParaRPr/>
          </a:p>
          <a:p>
            <a:pPr indent="-183523" lvl="1" marL="367046" marR="0" rtl="0" algn="l">
              <a:lnSpc>
                <a:spcPct val="159624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2026"/>
              <a:buFont typeface="Arial"/>
              <a:buChar char="•"/>
            </a:pPr>
            <a:r>
              <a:rPr b="0" i="0" lang="en-US" sz="2026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Koduri Varshith</a:t>
            </a:r>
            <a:endParaRPr/>
          </a:p>
          <a:p>
            <a:pPr indent="-183523" lvl="1" marL="367046" marR="0" rtl="0" algn="l">
              <a:lnSpc>
                <a:spcPct val="159624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2026"/>
              <a:buFont typeface="Arial"/>
              <a:buChar char="•"/>
            </a:pPr>
            <a:r>
              <a:rPr b="0" i="0" lang="en-US" sz="2026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Nasyam Muhammad Abdul Lateef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4"/>
          <p:cNvSpPr/>
          <p:nvPr/>
        </p:nvSpPr>
        <p:spPr>
          <a:xfrm>
            <a:off x="0" y="0"/>
            <a:ext cx="18301811" cy="10295001"/>
          </a:xfrm>
          <a:custGeom>
            <a:rect b="b" l="l" r="r" t="t"/>
            <a:pathLst>
              <a:path extrusionOk="0" h="13726668" w="24402414">
                <a:moveTo>
                  <a:pt x="0" y="0"/>
                </a:moveTo>
                <a:lnTo>
                  <a:pt x="24402414" y="0"/>
                </a:lnTo>
                <a:lnTo>
                  <a:pt x="24402414" y="13726668"/>
                </a:lnTo>
                <a:lnTo>
                  <a:pt x="0" y="13726668"/>
                </a:lnTo>
                <a:close/>
              </a:path>
            </a:pathLst>
          </a:custGeom>
          <a:solidFill>
            <a:srgbClr val="181A24"/>
          </a:solidFill>
          <a:ln>
            <a:noFill/>
          </a:ln>
        </p:spPr>
      </p:sp>
      <p:sp>
        <p:nvSpPr>
          <p:cNvPr id="116" name="Google Shape;116;p14"/>
          <p:cNvSpPr/>
          <p:nvPr/>
        </p:nvSpPr>
        <p:spPr>
          <a:xfrm>
            <a:off x="0" y="0"/>
            <a:ext cx="18301811" cy="10295001"/>
          </a:xfrm>
          <a:custGeom>
            <a:rect b="b" l="l" r="r" t="t"/>
            <a:pathLst>
              <a:path extrusionOk="0" h="13726668" w="24402414">
                <a:moveTo>
                  <a:pt x="0" y="0"/>
                </a:moveTo>
                <a:lnTo>
                  <a:pt x="24402414" y="0"/>
                </a:lnTo>
                <a:lnTo>
                  <a:pt x="24402414" y="13726668"/>
                </a:lnTo>
                <a:lnTo>
                  <a:pt x="0" y="13726668"/>
                </a:lnTo>
                <a:close/>
              </a:path>
            </a:pathLst>
          </a:custGeom>
          <a:solidFill>
            <a:srgbClr val="252833"/>
          </a:solidFill>
          <a:ln>
            <a:noFill/>
          </a:ln>
        </p:spPr>
      </p:sp>
      <p:sp>
        <p:nvSpPr>
          <p:cNvPr id="117" name="Google Shape;117;p14"/>
          <p:cNvSpPr/>
          <p:nvPr/>
        </p:nvSpPr>
        <p:spPr>
          <a:xfrm>
            <a:off x="1043178" y="731463"/>
            <a:ext cx="1470946" cy="352235"/>
          </a:xfrm>
          <a:custGeom>
            <a:rect b="b" l="l" r="r" t="t"/>
            <a:pathLst>
              <a:path extrusionOk="0" h="469646" w="1961261">
                <a:moveTo>
                  <a:pt x="0" y="37084"/>
                </a:moveTo>
                <a:cubicBezTo>
                  <a:pt x="0" y="16637"/>
                  <a:pt x="16637" y="0"/>
                  <a:pt x="37084" y="0"/>
                </a:cubicBezTo>
                <a:lnTo>
                  <a:pt x="1924177" y="0"/>
                </a:lnTo>
                <a:cubicBezTo>
                  <a:pt x="1944624" y="0"/>
                  <a:pt x="1961261" y="16637"/>
                  <a:pt x="1961261" y="37084"/>
                </a:cubicBezTo>
                <a:lnTo>
                  <a:pt x="1961261" y="432562"/>
                </a:lnTo>
                <a:cubicBezTo>
                  <a:pt x="1961261" y="453009"/>
                  <a:pt x="1944624" y="469646"/>
                  <a:pt x="1924177" y="469646"/>
                </a:cubicBezTo>
                <a:lnTo>
                  <a:pt x="37084" y="469646"/>
                </a:lnTo>
                <a:cubicBezTo>
                  <a:pt x="16637" y="469646"/>
                  <a:pt x="0" y="453009"/>
                  <a:pt x="0" y="432562"/>
                </a:cubicBezTo>
                <a:close/>
              </a:path>
            </a:pathLst>
          </a:custGeom>
          <a:blipFill rotWithShape="1">
            <a:blip r:embed="rId3">
              <a:alphaModFix amt="0"/>
            </a:blip>
            <a:stretch>
              <a:fillRect b="-31371" l="0" r="0" t="-31366"/>
            </a:stretch>
          </a:blipFill>
          <a:ln cap="sq" cmpd="sng" w="9525">
            <a:solidFill>
              <a:srgbClr val="F98AC7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4"/>
          <p:cNvSpPr txBox="1"/>
          <p:nvPr/>
        </p:nvSpPr>
        <p:spPr>
          <a:xfrm>
            <a:off x="1183186" y="803853"/>
            <a:ext cx="2106025" cy="2074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17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1" u="none" cap="none" strike="noStrike">
                <a:solidFill>
                  <a:srgbClr val="F98AC7"/>
                </a:solidFill>
                <a:latin typeface="Source Sans 3"/>
                <a:ea typeface="Source Sans 3"/>
                <a:cs typeface="Source Sans 3"/>
                <a:sym typeface="Source Sans 3"/>
              </a:rPr>
              <a:t>INTRODUCTION</a:t>
            </a:r>
            <a:endParaRPr/>
          </a:p>
        </p:txBody>
      </p:sp>
      <p:sp>
        <p:nvSpPr>
          <p:cNvPr id="119" name="Google Shape;119;p14"/>
          <p:cNvSpPr/>
          <p:nvPr/>
        </p:nvSpPr>
        <p:spPr>
          <a:xfrm>
            <a:off x="2622099" y="736235"/>
            <a:ext cx="1984153" cy="342709"/>
          </a:xfrm>
          <a:custGeom>
            <a:rect b="b" l="l" r="r" t="t"/>
            <a:pathLst>
              <a:path extrusionOk="0" h="456946" w="2645537">
                <a:moveTo>
                  <a:pt x="0" y="36068"/>
                </a:moveTo>
                <a:cubicBezTo>
                  <a:pt x="0" y="16129"/>
                  <a:pt x="16129" y="0"/>
                  <a:pt x="36068" y="0"/>
                </a:cubicBezTo>
                <a:lnTo>
                  <a:pt x="2609469" y="0"/>
                </a:lnTo>
                <a:cubicBezTo>
                  <a:pt x="2629408" y="0"/>
                  <a:pt x="2645537" y="16129"/>
                  <a:pt x="2645537" y="36068"/>
                </a:cubicBezTo>
                <a:lnTo>
                  <a:pt x="2645537" y="420878"/>
                </a:lnTo>
                <a:cubicBezTo>
                  <a:pt x="2645537" y="440817"/>
                  <a:pt x="2629408" y="456946"/>
                  <a:pt x="2609469" y="456946"/>
                </a:cubicBezTo>
                <a:lnTo>
                  <a:pt x="36068" y="456946"/>
                </a:lnTo>
                <a:cubicBezTo>
                  <a:pt x="16129" y="456946"/>
                  <a:pt x="0" y="440817"/>
                  <a:pt x="0" y="420878"/>
                </a:cubicBezTo>
                <a:close/>
              </a:path>
            </a:pathLst>
          </a:custGeom>
          <a:solidFill>
            <a:srgbClr val="4904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14"/>
          <p:cNvSpPr txBox="1"/>
          <p:nvPr/>
        </p:nvSpPr>
        <p:spPr>
          <a:xfrm>
            <a:off x="2757345" y="803853"/>
            <a:ext cx="2628805" cy="2074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17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1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FOOD-TECH DATABASE</a:t>
            </a:r>
            <a:endParaRPr/>
          </a:p>
        </p:txBody>
      </p:sp>
      <p:sp>
        <p:nvSpPr>
          <p:cNvPr id="121" name="Google Shape;121;p14"/>
          <p:cNvSpPr txBox="1"/>
          <p:nvPr/>
        </p:nvSpPr>
        <p:spPr>
          <a:xfrm>
            <a:off x="1047950" y="1137504"/>
            <a:ext cx="16205949" cy="6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8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128" u="none" cap="none" strike="noStrike">
                <a:solidFill>
                  <a:srgbClr val="F98AC7"/>
                </a:solidFill>
                <a:latin typeface="Lora"/>
                <a:ea typeface="Lora"/>
                <a:cs typeface="Lora"/>
                <a:sym typeface="Lora"/>
              </a:rPr>
              <a:t>INTRODUCTION</a:t>
            </a:r>
            <a:endParaRPr/>
          </a:p>
        </p:txBody>
      </p:sp>
      <p:sp>
        <p:nvSpPr>
          <p:cNvPr id="122" name="Google Shape;122;p14"/>
          <p:cNvSpPr txBox="1"/>
          <p:nvPr/>
        </p:nvSpPr>
        <p:spPr>
          <a:xfrm>
            <a:off x="1047950" y="2063667"/>
            <a:ext cx="17121035" cy="383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87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26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A database-driven online food ordering system designed to efficiently manage customers, restaurants, food items, orders, order details, and payments.</a:t>
            </a:r>
            <a:endParaRPr/>
          </a:p>
        </p:txBody>
      </p:sp>
      <p:sp>
        <p:nvSpPr>
          <p:cNvPr descr="preencoded.png" id="123" name="Google Shape;123;p14"/>
          <p:cNvSpPr/>
          <p:nvPr/>
        </p:nvSpPr>
        <p:spPr>
          <a:xfrm>
            <a:off x="1047950" y="2883865"/>
            <a:ext cx="7492613" cy="2041579"/>
          </a:xfrm>
          <a:custGeom>
            <a:rect b="b" l="l" r="r" t="t"/>
            <a:pathLst>
              <a:path extrusionOk="0" h="2041579" w="7492613">
                <a:moveTo>
                  <a:pt x="0" y="0"/>
                </a:moveTo>
                <a:lnTo>
                  <a:pt x="7492613" y="0"/>
                </a:lnTo>
                <a:lnTo>
                  <a:pt x="7492613" y="2041579"/>
                </a:lnTo>
                <a:lnTo>
                  <a:pt x="0" y="204157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130" l="0" r="0" t="-130"/>
            </a:stretch>
          </a:blipFill>
          <a:ln>
            <a:noFill/>
          </a:ln>
        </p:spPr>
      </p:sp>
      <p:sp>
        <p:nvSpPr>
          <p:cNvPr id="124" name="Google Shape;124;p14"/>
          <p:cNvSpPr txBox="1"/>
          <p:nvPr/>
        </p:nvSpPr>
        <p:spPr>
          <a:xfrm>
            <a:off x="1416425" y="3128439"/>
            <a:ext cx="6870040" cy="3412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82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26" u="none" cap="none" strike="noStrike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Project Overview</a:t>
            </a:r>
            <a:endParaRPr/>
          </a:p>
        </p:txBody>
      </p:sp>
      <p:sp>
        <p:nvSpPr>
          <p:cNvPr id="125" name="Google Shape;125;p14"/>
          <p:cNvSpPr txBox="1"/>
          <p:nvPr/>
        </p:nvSpPr>
        <p:spPr>
          <a:xfrm>
            <a:off x="1416425" y="3616109"/>
            <a:ext cx="6870040" cy="10552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87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26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The system stores and organizes food-ordering information in a relational database, allowing data to be easily stored, retrieved, and updated.</a:t>
            </a:r>
            <a:endParaRPr/>
          </a:p>
        </p:txBody>
      </p:sp>
      <p:sp>
        <p:nvSpPr>
          <p:cNvPr descr="preencoded.png" id="126" name="Google Shape;126;p14"/>
          <p:cNvSpPr/>
          <p:nvPr/>
        </p:nvSpPr>
        <p:spPr>
          <a:xfrm>
            <a:off x="9100280" y="2883865"/>
            <a:ext cx="8162992" cy="2041579"/>
          </a:xfrm>
          <a:custGeom>
            <a:rect b="b" l="l" r="r" t="t"/>
            <a:pathLst>
              <a:path extrusionOk="0" h="2041579" w="8162992">
                <a:moveTo>
                  <a:pt x="0" y="0"/>
                </a:moveTo>
                <a:lnTo>
                  <a:pt x="8162992" y="0"/>
                </a:lnTo>
                <a:lnTo>
                  <a:pt x="8162992" y="2041579"/>
                </a:lnTo>
                <a:lnTo>
                  <a:pt x="0" y="204157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329" l="0" r="0" t="-328"/>
            </a:stretch>
          </a:blipFill>
          <a:ln>
            <a:noFill/>
          </a:ln>
        </p:spPr>
      </p:sp>
      <p:sp>
        <p:nvSpPr>
          <p:cNvPr id="127" name="Google Shape;127;p14"/>
          <p:cNvSpPr txBox="1"/>
          <p:nvPr/>
        </p:nvSpPr>
        <p:spPr>
          <a:xfrm>
            <a:off x="9468764" y="3128439"/>
            <a:ext cx="7540428" cy="3412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82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26" u="none" cap="none" strike="noStrike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Core Purpose</a:t>
            </a:r>
            <a:endParaRPr/>
          </a:p>
        </p:txBody>
      </p:sp>
      <p:sp>
        <p:nvSpPr>
          <p:cNvPr id="128" name="Google Shape;128;p14"/>
          <p:cNvSpPr txBox="1"/>
          <p:nvPr/>
        </p:nvSpPr>
        <p:spPr>
          <a:xfrm>
            <a:off x="9468764" y="3616109"/>
            <a:ext cx="7540428" cy="10552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87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26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The main purpose is to maintain accurate and consistent data while connecting customers, restaurants, food items, orders, and payments through related tables.</a:t>
            </a:r>
            <a:endParaRPr/>
          </a:p>
        </p:txBody>
      </p:sp>
      <p:sp>
        <p:nvSpPr>
          <p:cNvPr id="129" name="Google Shape;129;p14"/>
          <p:cNvSpPr txBox="1"/>
          <p:nvPr/>
        </p:nvSpPr>
        <p:spPr>
          <a:xfrm>
            <a:off x="1047950" y="5425459"/>
            <a:ext cx="16205949" cy="3412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82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26" u="none" cap="none" strike="noStrike">
                <a:solidFill>
                  <a:srgbClr val="F98AC7"/>
                </a:solidFill>
                <a:latin typeface="Lora"/>
                <a:ea typeface="Lora"/>
                <a:cs typeface="Lora"/>
                <a:sym typeface="Lora"/>
              </a:rPr>
              <a:t>Key Entities</a:t>
            </a:r>
            <a:endParaRPr/>
          </a:p>
        </p:txBody>
      </p:sp>
      <p:sp>
        <p:nvSpPr>
          <p:cNvPr id="130" name="Google Shape;130;p14"/>
          <p:cNvSpPr/>
          <p:nvPr/>
        </p:nvSpPr>
        <p:spPr>
          <a:xfrm>
            <a:off x="1047950" y="6057871"/>
            <a:ext cx="3905822" cy="1653445"/>
          </a:xfrm>
          <a:custGeom>
            <a:rect b="b" l="l" r="r" t="t"/>
            <a:pathLst>
              <a:path extrusionOk="0" h="2204593" w="5207762">
                <a:moveTo>
                  <a:pt x="0" y="45085"/>
                </a:moveTo>
                <a:cubicBezTo>
                  <a:pt x="0" y="20193"/>
                  <a:pt x="20193" y="0"/>
                  <a:pt x="45085" y="0"/>
                </a:cubicBezTo>
                <a:lnTo>
                  <a:pt x="5162677" y="0"/>
                </a:lnTo>
                <a:cubicBezTo>
                  <a:pt x="5187569" y="0"/>
                  <a:pt x="5207762" y="20193"/>
                  <a:pt x="5207762" y="45085"/>
                </a:cubicBezTo>
                <a:lnTo>
                  <a:pt x="5207762" y="2159508"/>
                </a:lnTo>
                <a:cubicBezTo>
                  <a:pt x="5207762" y="2184400"/>
                  <a:pt x="5187569" y="2204593"/>
                  <a:pt x="5162677" y="2204593"/>
                </a:cubicBezTo>
                <a:lnTo>
                  <a:pt x="45085" y="2204593"/>
                </a:lnTo>
                <a:cubicBezTo>
                  <a:pt x="20193" y="2204593"/>
                  <a:pt x="0" y="2184400"/>
                  <a:pt x="0" y="2159508"/>
                </a:cubicBezTo>
                <a:close/>
              </a:path>
            </a:pathLst>
          </a:custGeom>
          <a:solidFill>
            <a:srgbClr val="4447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14"/>
          <p:cNvSpPr/>
          <p:nvPr/>
        </p:nvSpPr>
        <p:spPr>
          <a:xfrm>
            <a:off x="1273445" y="6283376"/>
            <a:ext cx="676656" cy="676656"/>
          </a:xfrm>
          <a:custGeom>
            <a:rect b="b" l="l" r="r" t="t"/>
            <a:pathLst>
              <a:path extrusionOk="0" h="902208" w="902208">
                <a:moveTo>
                  <a:pt x="0" y="451104"/>
                </a:moveTo>
                <a:cubicBezTo>
                  <a:pt x="0" y="201930"/>
                  <a:pt x="201930" y="0"/>
                  <a:pt x="451104" y="0"/>
                </a:cubicBezTo>
                <a:cubicBezTo>
                  <a:pt x="700278" y="0"/>
                  <a:pt x="902208" y="201930"/>
                  <a:pt x="902208" y="451104"/>
                </a:cubicBezTo>
                <a:cubicBezTo>
                  <a:pt x="902208" y="700278"/>
                  <a:pt x="700278" y="902208"/>
                  <a:pt x="451104" y="902208"/>
                </a:cubicBezTo>
                <a:cubicBezTo>
                  <a:pt x="201930" y="902208"/>
                  <a:pt x="0" y="700278"/>
                  <a:pt x="0" y="451104"/>
                </a:cubicBezTo>
                <a:close/>
              </a:path>
            </a:pathLst>
          </a:custGeom>
          <a:solidFill>
            <a:srgbClr val="6EB9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descr="preencoded.png" id="132" name="Google Shape;132;p14"/>
          <p:cNvSpPr/>
          <p:nvPr/>
        </p:nvSpPr>
        <p:spPr>
          <a:xfrm>
            <a:off x="1459468" y="6469399"/>
            <a:ext cx="304438" cy="304438"/>
          </a:xfrm>
          <a:custGeom>
            <a:rect b="b" l="l" r="r" t="t"/>
            <a:pathLst>
              <a:path extrusionOk="0" h="304438" w="304438">
                <a:moveTo>
                  <a:pt x="0" y="0"/>
                </a:moveTo>
                <a:lnTo>
                  <a:pt x="304438" y="0"/>
                </a:lnTo>
                <a:lnTo>
                  <a:pt x="304438" y="304438"/>
                </a:lnTo>
                <a:lnTo>
                  <a:pt x="0" y="3044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-6251" r="-6251" t="0"/>
            </a:stretch>
          </a:blipFill>
          <a:ln>
            <a:noFill/>
          </a:ln>
        </p:spPr>
      </p:sp>
      <p:sp>
        <p:nvSpPr>
          <p:cNvPr id="133" name="Google Shape;133;p14"/>
          <p:cNvSpPr txBox="1"/>
          <p:nvPr/>
        </p:nvSpPr>
        <p:spPr>
          <a:xfrm>
            <a:off x="1273445" y="7144579"/>
            <a:ext cx="3454832" cy="3412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82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26" u="none" cap="none" strike="noStrike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Customer</a:t>
            </a:r>
            <a:endParaRPr/>
          </a:p>
        </p:txBody>
      </p:sp>
      <p:sp>
        <p:nvSpPr>
          <p:cNvPr id="134" name="Google Shape;134;p14"/>
          <p:cNvSpPr/>
          <p:nvPr/>
        </p:nvSpPr>
        <p:spPr>
          <a:xfrm>
            <a:off x="5147843" y="6057871"/>
            <a:ext cx="3905917" cy="1653445"/>
          </a:xfrm>
          <a:custGeom>
            <a:rect b="b" l="l" r="r" t="t"/>
            <a:pathLst>
              <a:path extrusionOk="0" h="2204593" w="5207889">
                <a:moveTo>
                  <a:pt x="0" y="45085"/>
                </a:moveTo>
                <a:cubicBezTo>
                  <a:pt x="0" y="20193"/>
                  <a:pt x="20193" y="0"/>
                  <a:pt x="45085" y="0"/>
                </a:cubicBezTo>
                <a:lnTo>
                  <a:pt x="5162804" y="0"/>
                </a:lnTo>
                <a:cubicBezTo>
                  <a:pt x="5187696" y="0"/>
                  <a:pt x="5207889" y="20193"/>
                  <a:pt x="5207889" y="45085"/>
                </a:cubicBezTo>
                <a:lnTo>
                  <a:pt x="5207889" y="2159508"/>
                </a:lnTo>
                <a:cubicBezTo>
                  <a:pt x="5207889" y="2184400"/>
                  <a:pt x="5187696" y="2204593"/>
                  <a:pt x="5162804" y="2204593"/>
                </a:cubicBezTo>
                <a:lnTo>
                  <a:pt x="45085" y="2204593"/>
                </a:lnTo>
                <a:cubicBezTo>
                  <a:pt x="20193" y="2204593"/>
                  <a:pt x="0" y="2184400"/>
                  <a:pt x="0" y="2159508"/>
                </a:cubicBezTo>
                <a:close/>
              </a:path>
            </a:pathLst>
          </a:custGeom>
          <a:solidFill>
            <a:srgbClr val="4447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4"/>
          <p:cNvSpPr/>
          <p:nvPr/>
        </p:nvSpPr>
        <p:spPr>
          <a:xfrm>
            <a:off x="5373338" y="6283376"/>
            <a:ext cx="676656" cy="676656"/>
          </a:xfrm>
          <a:custGeom>
            <a:rect b="b" l="l" r="r" t="t"/>
            <a:pathLst>
              <a:path extrusionOk="0" h="902208" w="902208">
                <a:moveTo>
                  <a:pt x="0" y="451104"/>
                </a:moveTo>
                <a:cubicBezTo>
                  <a:pt x="0" y="201930"/>
                  <a:pt x="201930" y="0"/>
                  <a:pt x="451104" y="0"/>
                </a:cubicBezTo>
                <a:cubicBezTo>
                  <a:pt x="700278" y="0"/>
                  <a:pt x="902208" y="201930"/>
                  <a:pt x="902208" y="451104"/>
                </a:cubicBezTo>
                <a:cubicBezTo>
                  <a:pt x="902208" y="700278"/>
                  <a:pt x="700278" y="902208"/>
                  <a:pt x="451104" y="902208"/>
                </a:cubicBezTo>
                <a:cubicBezTo>
                  <a:pt x="201930" y="902208"/>
                  <a:pt x="0" y="700278"/>
                  <a:pt x="0" y="451104"/>
                </a:cubicBezTo>
                <a:close/>
              </a:path>
            </a:pathLst>
          </a:custGeom>
          <a:solidFill>
            <a:srgbClr val="6EB9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descr="preencoded.png" id="136" name="Google Shape;136;p14"/>
          <p:cNvSpPr/>
          <p:nvPr/>
        </p:nvSpPr>
        <p:spPr>
          <a:xfrm>
            <a:off x="5559362" y="6469399"/>
            <a:ext cx="304438" cy="304438"/>
          </a:xfrm>
          <a:custGeom>
            <a:rect b="b" l="l" r="r" t="t"/>
            <a:pathLst>
              <a:path extrusionOk="0" h="304438" w="304438">
                <a:moveTo>
                  <a:pt x="0" y="0"/>
                </a:moveTo>
                <a:lnTo>
                  <a:pt x="304438" y="0"/>
                </a:lnTo>
                <a:lnTo>
                  <a:pt x="304438" y="304438"/>
                </a:lnTo>
                <a:lnTo>
                  <a:pt x="0" y="3044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-15627" r="-15624" t="0"/>
            </a:stretch>
          </a:blipFill>
          <a:ln>
            <a:noFill/>
          </a:ln>
        </p:spPr>
      </p:sp>
      <p:sp>
        <p:nvSpPr>
          <p:cNvPr id="137" name="Google Shape;137;p14"/>
          <p:cNvSpPr txBox="1"/>
          <p:nvPr/>
        </p:nvSpPr>
        <p:spPr>
          <a:xfrm>
            <a:off x="5373338" y="7144579"/>
            <a:ext cx="3454975" cy="3412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82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26" u="none" cap="none" strike="noStrike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Restaurant</a:t>
            </a:r>
            <a:endParaRPr/>
          </a:p>
        </p:txBody>
      </p:sp>
      <p:sp>
        <p:nvSpPr>
          <p:cNvPr id="138" name="Google Shape;138;p14"/>
          <p:cNvSpPr/>
          <p:nvPr/>
        </p:nvSpPr>
        <p:spPr>
          <a:xfrm>
            <a:off x="9247880" y="6057871"/>
            <a:ext cx="3905917" cy="1653445"/>
          </a:xfrm>
          <a:custGeom>
            <a:rect b="b" l="l" r="r" t="t"/>
            <a:pathLst>
              <a:path extrusionOk="0" h="2204593" w="5207889">
                <a:moveTo>
                  <a:pt x="0" y="45085"/>
                </a:moveTo>
                <a:cubicBezTo>
                  <a:pt x="0" y="20193"/>
                  <a:pt x="20193" y="0"/>
                  <a:pt x="45085" y="0"/>
                </a:cubicBezTo>
                <a:lnTo>
                  <a:pt x="5162804" y="0"/>
                </a:lnTo>
                <a:cubicBezTo>
                  <a:pt x="5187696" y="0"/>
                  <a:pt x="5207889" y="20193"/>
                  <a:pt x="5207889" y="45085"/>
                </a:cubicBezTo>
                <a:lnTo>
                  <a:pt x="5207889" y="2159508"/>
                </a:lnTo>
                <a:cubicBezTo>
                  <a:pt x="5207889" y="2184400"/>
                  <a:pt x="5187696" y="2204593"/>
                  <a:pt x="5162804" y="2204593"/>
                </a:cubicBezTo>
                <a:lnTo>
                  <a:pt x="45085" y="2204593"/>
                </a:lnTo>
                <a:cubicBezTo>
                  <a:pt x="20193" y="2204593"/>
                  <a:pt x="0" y="2184400"/>
                  <a:pt x="0" y="2159508"/>
                </a:cubicBezTo>
                <a:close/>
              </a:path>
            </a:pathLst>
          </a:custGeom>
          <a:solidFill>
            <a:srgbClr val="4447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4"/>
          <p:cNvSpPr/>
          <p:nvPr/>
        </p:nvSpPr>
        <p:spPr>
          <a:xfrm>
            <a:off x="9473374" y="6283376"/>
            <a:ext cx="676656" cy="676656"/>
          </a:xfrm>
          <a:custGeom>
            <a:rect b="b" l="l" r="r" t="t"/>
            <a:pathLst>
              <a:path extrusionOk="0" h="902208" w="902208">
                <a:moveTo>
                  <a:pt x="0" y="451104"/>
                </a:moveTo>
                <a:cubicBezTo>
                  <a:pt x="0" y="201930"/>
                  <a:pt x="201930" y="0"/>
                  <a:pt x="451104" y="0"/>
                </a:cubicBezTo>
                <a:cubicBezTo>
                  <a:pt x="700278" y="0"/>
                  <a:pt x="902208" y="201930"/>
                  <a:pt x="902208" y="451104"/>
                </a:cubicBezTo>
                <a:cubicBezTo>
                  <a:pt x="902208" y="700278"/>
                  <a:pt x="700278" y="902208"/>
                  <a:pt x="451104" y="902208"/>
                </a:cubicBezTo>
                <a:cubicBezTo>
                  <a:pt x="201930" y="902208"/>
                  <a:pt x="0" y="700278"/>
                  <a:pt x="0" y="451104"/>
                </a:cubicBezTo>
                <a:close/>
              </a:path>
            </a:pathLst>
          </a:custGeom>
          <a:solidFill>
            <a:srgbClr val="6EB9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descr="preencoded.png" id="140" name="Google Shape;140;p14"/>
          <p:cNvSpPr/>
          <p:nvPr/>
        </p:nvSpPr>
        <p:spPr>
          <a:xfrm>
            <a:off x="9659407" y="6469399"/>
            <a:ext cx="304438" cy="304438"/>
          </a:xfrm>
          <a:custGeom>
            <a:rect b="b" l="l" r="r" t="t"/>
            <a:pathLst>
              <a:path extrusionOk="0" h="304438" w="304438">
                <a:moveTo>
                  <a:pt x="0" y="0"/>
                </a:moveTo>
                <a:lnTo>
                  <a:pt x="304438" y="0"/>
                </a:lnTo>
                <a:lnTo>
                  <a:pt x="304438" y="304438"/>
                </a:lnTo>
                <a:lnTo>
                  <a:pt x="0" y="3044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-3125" l="0" r="0" t="-3122"/>
            </a:stretch>
          </a:blipFill>
          <a:ln>
            <a:noFill/>
          </a:ln>
        </p:spPr>
      </p:sp>
      <p:sp>
        <p:nvSpPr>
          <p:cNvPr id="141" name="Google Shape;141;p14"/>
          <p:cNvSpPr txBox="1"/>
          <p:nvPr/>
        </p:nvSpPr>
        <p:spPr>
          <a:xfrm>
            <a:off x="9473374" y="7144579"/>
            <a:ext cx="3454975" cy="3412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82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26" u="none" cap="none" strike="noStrike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Food Item</a:t>
            </a:r>
            <a:endParaRPr/>
          </a:p>
        </p:txBody>
      </p:sp>
      <p:sp>
        <p:nvSpPr>
          <p:cNvPr id="142" name="Google Shape;142;p14"/>
          <p:cNvSpPr/>
          <p:nvPr/>
        </p:nvSpPr>
        <p:spPr>
          <a:xfrm>
            <a:off x="13347925" y="6057871"/>
            <a:ext cx="3905917" cy="1653445"/>
          </a:xfrm>
          <a:custGeom>
            <a:rect b="b" l="l" r="r" t="t"/>
            <a:pathLst>
              <a:path extrusionOk="0" h="2204593" w="5207889">
                <a:moveTo>
                  <a:pt x="0" y="45085"/>
                </a:moveTo>
                <a:cubicBezTo>
                  <a:pt x="0" y="20193"/>
                  <a:pt x="20193" y="0"/>
                  <a:pt x="45085" y="0"/>
                </a:cubicBezTo>
                <a:lnTo>
                  <a:pt x="5162804" y="0"/>
                </a:lnTo>
                <a:cubicBezTo>
                  <a:pt x="5187696" y="0"/>
                  <a:pt x="5207889" y="20193"/>
                  <a:pt x="5207889" y="45085"/>
                </a:cubicBezTo>
                <a:lnTo>
                  <a:pt x="5207889" y="2159508"/>
                </a:lnTo>
                <a:cubicBezTo>
                  <a:pt x="5207889" y="2184400"/>
                  <a:pt x="5187696" y="2204593"/>
                  <a:pt x="5162804" y="2204593"/>
                </a:cubicBezTo>
                <a:lnTo>
                  <a:pt x="45085" y="2204593"/>
                </a:lnTo>
                <a:cubicBezTo>
                  <a:pt x="20193" y="2204593"/>
                  <a:pt x="0" y="2184400"/>
                  <a:pt x="0" y="2159508"/>
                </a:cubicBezTo>
                <a:close/>
              </a:path>
            </a:pathLst>
          </a:custGeom>
          <a:solidFill>
            <a:srgbClr val="4447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4"/>
          <p:cNvSpPr/>
          <p:nvPr/>
        </p:nvSpPr>
        <p:spPr>
          <a:xfrm>
            <a:off x="13573420" y="6283376"/>
            <a:ext cx="676656" cy="676656"/>
          </a:xfrm>
          <a:custGeom>
            <a:rect b="b" l="l" r="r" t="t"/>
            <a:pathLst>
              <a:path extrusionOk="0" h="902208" w="902208">
                <a:moveTo>
                  <a:pt x="0" y="451104"/>
                </a:moveTo>
                <a:cubicBezTo>
                  <a:pt x="0" y="201930"/>
                  <a:pt x="201930" y="0"/>
                  <a:pt x="451104" y="0"/>
                </a:cubicBezTo>
                <a:cubicBezTo>
                  <a:pt x="700278" y="0"/>
                  <a:pt x="902208" y="201930"/>
                  <a:pt x="902208" y="451104"/>
                </a:cubicBezTo>
                <a:cubicBezTo>
                  <a:pt x="902208" y="700278"/>
                  <a:pt x="700278" y="902208"/>
                  <a:pt x="451104" y="902208"/>
                </a:cubicBezTo>
                <a:cubicBezTo>
                  <a:pt x="201930" y="902208"/>
                  <a:pt x="0" y="700278"/>
                  <a:pt x="0" y="451104"/>
                </a:cubicBezTo>
                <a:close/>
              </a:path>
            </a:pathLst>
          </a:custGeom>
          <a:solidFill>
            <a:srgbClr val="6EB9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descr="preencoded.png" id="144" name="Google Shape;144;p14"/>
          <p:cNvSpPr/>
          <p:nvPr/>
        </p:nvSpPr>
        <p:spPr>
          <a:xfrm>
            <a:off x="13759444" y="6469399"/>
            <a:ext cx="304438" cy="304438"/>
          </a:xfrm>
          <a:custGeom>
            <a:rect b="b" l="l" r="r" t="t"/>
            <a:pathLst>
              <a:path extrusionOk="0" h="304438" w="304438">
                <a:moveTo>
                  <a:pt x="0" y="0"/>
                </a:moveTo>
                <a:lnTo>
                  <a:pt x="304438" y="0"/>
                </a:lnTo>
                <a:lnTo>
                  <a:pt x="304438" y="304438"/>
                </a:lnTo>
                <a:lnTo>
                  <a:pt x="0" y="3044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-10937" l="0" r="0" t="-10934"/>
            </a:stretch>
          </a:blipFill>
          <a:ln>
            <a:noFill/>
          </a:ln>
        </p:spPr>
      </p:sp>
      <p:sp>
        <p:nvSpPr>
          <p:cNvPr id="145" name="Google Shape;145;p14"/>
          <p:cNvSpPr txBox="1"/>
          <p:nvPr/>
        </p:nvSpPr>
        <p:spPr>
          <a:xfrm>
            <a:off x="13573420" y="7144579"/>
            <a:ext cx="3454975" cy="3412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82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26" u="none" cap="none" strike="noStrike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Orders</a:t>
            </a:r>
            <a:endParaRPr/>
          </a:p>
        </p:txBody>
      </p:sp>
      <p:sp>
        <p:nvSpPr>
          <p:cNvPr id="146" name="Google Shape;146;p14"/>
          <p:cNvSpPr/>
          <p:nvPr/>
        </p:nvSpPr>
        <p:spPr>
          <a:xfrm>
            <a:off x="1047950" y="7905379"/>
            <a:ext cx="8005762" cy="1653445"/>
          </a:xfrm>
          <a:custGeom>
            <a:rect b="b" l="l" r="r" t="t"/>
            <a:pathLst>
              <a:path extrusionOk="0" h="2204593" w="10674350">
                <a:moveTo>
                  <a:pt x="0" y="45085"/>
                </a:moveTo>
                <a:cubicBezTo>
                  <a:pt x="0" y="20193"/>
                  <a:pt x="20193" y="0"/>
                  <a:pt x="45085" y="0"/>
                </a:cubicBezTo>
                <a:lnTo>
                  <a:pt x="10629265" y="0"/>
                </a:lnTo>
                <a:cubicBezTo>
                  <a:pt x="10654157" y="0"/>
                  <a:pt x="10674350" y="20193"/>
                  <a:pt x="10674350" y="45085"/>
                </a:cubicBezTo>
                <a:lnTo>
                  <a:pt x="10674350" y="2159508"/>
                </a:lnTo>
                <a:cubicBezTo>
                  <a:pt x="10674350" y="2184400"/>
                  <a:pt x="10654157" y="2204593"/>
                  <a:pt x="10629265" y="2204593"/>
                </a:cubicBezTo>
                <a:lnTo>
                  <a:pt x="45085" y="2204593"/>
                </a:lnTo>
                <a:cubicBezTo>
                  <a:pt x="20193" y="2204593"/>
                  <a:pt x="0" y="2184400"/>
                  <a:pt x="0" y="2159508"/>
                </a:cubicBezTo>
                <a:close/>
              </a:path>
            </a:pathLst>
          </a:custGeom>
          <a:solidFill>
            <a:srgbClr val="4447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4"/>
          <p:cNvSpPr/>
          <p:nvPr/>
        </p:nvSpPr>
        <p:spPr>
          <a:xfrm>
            <a:off x="1273445" y="8130883"/>
            <a:ext cx="676656" cy="676656"/>
          </a:xfrm>
          <a:custGeom>
            <a:rect b="b" l="l" r="r" t="t"/>
            <a:pathLst>
              <a:path extrusionOk="0" h="902208" w="902208">
                <a:moveTo>
                  <a:pt x="0" y="451104"/>
                </a:moveTo>
                <a:cubicBezTo>
                  <a:pt x="0" y="201930"/>
                  <a:pt x="201930" y="0"/>
                  <a:pt x="451104" y="0"/>
                </a:cubicBezTo>
                <a:cubicBezTo>
                  <a:pt x="700278" y="0"/>
                  <a:pt x="902208" y="201930"/>
                  <a:pt x="902208" y="451104"/>
                </a:cubicBezTo>
                <a:cubicBezTo>
                  <a:pt x="902208" y="700278"/>
                  <a:pt x="700278" y="902208"/>
                  <a:pt x="451104" y="902208"/>
                </a:cubicBezTo>
                <a:cubicBezTo>
                  <a:pt x="201930" y="902208"/>
                  <a:pt x="0" y="700278"/>
                  <a:pt x="0" y="451104"/>
                </a:cubicBezTo>
                <a:close/>
              </a:path>
            </a:pathLst>
          </a:custGeom>
          <a:solidFill>
            <a:srgbClr val="6EB9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descr="preencoded.png" id="148" name="Google Shape;148;p14"/>
          <p:cNvSpPr/>
          <p:nvPr/>
        </p:nvSpPr>
        <p:spPr>
          <a:xfrm>
            <a:off x="1459468" y="8316916"/>
            <a:ext cx="304438" cy="304438"/>
          </a:xfrm>
          <a:custGeom>
            <a:rect b="b" l="l" r="r" t="t"/>
            <a:pathLst>
              <a:path extrusionOk="0" h="304438" w="304438">
                <a:moveTo>
                  <a:pt x="0" y="0"/>
                </a:moveTo>
                <a:lnTo>
                  <a:pt x="304438" y="0"/>
                </a:lnTo>
                <a:lnTo>
                  <a:pt x="304438" y="304438"/>
                </a:lnTo>
                <a:lnTo>
                  <a:pt x="0" y="3044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-10937" l="0" r="0" t="-10934"/>
            </a:stretch>
          </a:blipFill>
          <a:ln>
            <a:noFill/>
          </a:ln>
        </p:spPr>
      </p:sp>
      <p:sp>
        <p:nvSpPr>
          <p:cNvPr id="149" name="Google Shape;149;p14"/>
          <p:cNvSpPr txBox="1"/>
          <p:nvPr/>
        </p:nvSpPr>
        <p:spPr>
          <a:xfrm>
            <a:off x="1273445" y="8992086"/>
            <a:ext cx="7554868" cy="3412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82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26" u="none" cap="none" strike="noStrike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Order Detail</a:t>
            </a:r>
            <a:endParaRPr/>
          </a:p>
        </p:txBody>
      </p:sp>
      <p:sp>
        <p:nvSpPr>
          <p:cNvPr id="150" name="Google Shape;150;p14"/>
          <p:cNvSpPr/>
          <p:nvPr/>
        </p:nvSpPr>
        <p:spPr>
          <a:xfrm>
            <a:off x="9247880" y="7905379"/>
            <a:ext cx="8005952" cy="1653445"/>
          </a:xfrm>
          <a:custGeom>
            <a:rect b="b" l="l" r="r" t="t"/>
            <a:pathLst>
              <a:path extrusionOk="0" h="2204593" w="10674603">
                <a:moveTo>
                  <a:pt x="0" y="45085"/>
                </a:moveTo>
                <a:cubicBezTo>
                  <a:pt x="0" y="20193"/>
                  <a:pt x="20193" y="0"/>
                  <a:pt x="45085" y="0"/>
                </a:cubicBezTo>
                <a:lnTo>
                  <a:pt x="10629519" y="0"/>
                </a:lnTo>
                <a:cubicBezTo>
                  <a:pt x="10654411" y="0"/>
                  <a:pt x="10674603" y="20193"/>
                  <a:pt x="10674603" y="45085"/>
                </a:cubicBezTo>
                <a:lnTo>
                  <a:pt x="10674603" y="2159508"/>
                </a:lnTo>
                <a:cubicBezTo>
                  <a:pt x="10674603" y="2184400"/>
                  <a:pt x="10654411" y="2204593"/>
                  <a:pt x="10629519" y="2204593"/>
                </a:cubicBezTo>
                <a:lnTo>
                  <a:pt x="45085" y="2204593"/>
                </a:lnTo>
                <a:cubicBezTo>
                  <a:pt x="20193" y="2204593"/>
                  <a:pt x="0" y="2184400"/>
                  <a:pt x="0" y="2159508"/>
                </a:cubicBezTo>
                <a:close/>
              </a:path>
            </a:pathLst>
          </a:custGeom>
          <a:solidFill>
            <a:srgbClr val="4447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4"/>
          <p:cNvSpPr/>
          <p:nvPr/>
        </p:nvSpPr>
        <p:spPr>
          <a:xfrm>
            <a:off x="9473374" y="8130883"/>
            <a:ext cx="676656" cy="676656"/>
          </a:xfrm>
          <a:custGeom>
            <a:rect b="b" l="l" r="r" t="t"/>
            <a:pathLst>
              <a:path extrusionOk="0" h="902208" w="902208">
                <a:moveTo>
                  <a:pt x="0" y="451104"/>
                </a:moveTo>
                <a:cubicBezTo>
                  <a:pt x="0" y="201930"/>
                  <a:pt x="201930" y="0"/>
                  <a:pt x="451104" y="0"/>
                </a:cubicBezTo>
                <a:cubicBezTo>
                  <a:pt x="700278" y="0"/>
                  <a:pt x="902208" y="201930"/>
                  <a:pt x="902208" y="451104"/>
                </a:cubicBezTo>
                <a:cubicBezTo>
                  <a:pt x="902208" y="700278"/>
                  <a:pt x="700278" y="902208"/>
                  <a:pt x="451104" y="902208"/>
                </a:cubicBezTo>
                <a:cubicBezTo>
                  <a:pt x="201930" y="902208"/>
                  <a:pt x="0" y="700278"/>
                  <a:pt x="0" y="451104"/>
                </a:cubicBezTo>
                <a:close/>
              </a:path>
            </a:pathLst>
          </a:custGeom>
          <a:solidFill>
            <a:srgbClr val="6EB9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descr="preencoded.png" id="152" name="Google Shape;152;p14"/>
          <p:cNvSpPr/>
          <p:nvPr/>
        </p:nvSpPr>
        <p:spPr>
          <a:xfrm>
            <a:off x="9659407" y="8316916"/>
            <a:ext cx="304438" cy="304438"/>
          </a:xfrm>
          <a:custGeom>
            <a:rect b="b" l="l" r="r" t="t"/>
            <a:pathLst>
              <a:path extrusionOk="0" h="304438" w="304438">
                <a:moveTo>
                  <a:pt x="0" y="0"/>
                </a:moveTo>
                <a:lnTo>
                  <a:pt x="304438" y="0"/>
                </a:lnTo>
                <a:lnTo>
                  <a:pt x="304438" y="304438"/>
                </a:lnTo>
                <a:lnTo>
                  <a:pt x="0" y="3044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 b="0" l="-1564" r="-1561" t="0"/>
            </a:stretch>
          </a:blipFill>
          <a:ln>
            <a:noFill/>
          </a:ln>
        </p:spPr>
      </p:sp>
      <p:sp>
        <p:nvSpPr>
          <p:cNvPr id="153" name="Google Shape;153;p14"/>
          <p:cNvSpPr txBox="1"/>
          <p:nvPr/>
        </p:nvSpPr>
        <p:spPr>
          <a:xfrm>
            <a:off x="9473374" y="8992086"/>
            <a:ext cx="7555020" cy="3412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82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26" u="none" cap="none" strike="noStrike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Payment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5"/>
          <p:cNvSpPr/>
          <p:nvPr/>
        </p:nvSpPr>
        <p:spPr>
          <a:xfrm>
            <a:off x="0" y="0"/>
            <a:ext cx="18301811" cy="10295001"/>
          </a:xfrm>
          <a:custGeom>
            <a:rect b="b" l="l" r="r" t="t"/>
            <a:pathLst>
              <a:path extrusionOk="0" h="13726668" w="24402414">
                <a:moveTo>
                  <a:pt x="0" y="0"/>
                </a:moveTo>
                <a:lnTo>
                  <a:pt x="24402414" y="0"/>
                </a:lnTo>
                <a:lnTo>
                  <a:pt x="24402414" y="13726668"/>
                </a:lnTo>
                <a:lnTo>
                  <a:pt x="0" y="13726668"/>
                </a:lnTo>
                <a:close/>
              </a:path>
            </a:pathLst>
          </a:custGeom>
          <a:solidFill>
            <a:srgbClr val="181A24"/>
          </a:solidFill>
          <a:ln>
            <a:noFill/>
          </a:ln>
        </p:spPr>
      </p:sp>
      <p:sp>
        <p:nvSpPr>
          <p:cNvPr id="163" name="Google Shape;163;p15"/>
          <p:cNvSpPr/>
          <p:nvPr/>
        </p:nvSpPr>
        <p:spPr>
          <a:xfrm>
            <a:off x="0" y="0"/>
            <a:ext cx="18301811" cy="10295001"/>
          </a:xfrm>
          <a:custGeom>
            <a:rect b="b" l="l" r="r" t="t"/>
            <a:pathLst>
              <a:path extrusionOk="0" h="13726668" w="24402414">
                <a:moveTo>
                  <a:pt x="0" y="0"/>
                </a:moveTo>
                <a:lnTo>
                  <a:pt x="24402414" y="0"/>
                </a:lnTo>
                <a:lnTo>
                  <a:pt x="24402414" y="13726668"/>
                </a:lnTo>
                <a:lnTo>
                  <a:pt x="0" y="13726668"/>
                </a:lnTo>
                <a:close/>
              </a:path>
            </a:pathLst>
          </a:custGeom>
          <a:solidFill>
            <a:srgbClr val="252833"/>
          </a:solidFill>
          <a:ln>
            <a:noFill/>
          </a:ln>
        </p:spPr>
      </p:sp>
      <p:sp>
        <p:nvSpPr>
          <p:cNvPr id="164" name="Google Shape;164;p15"/>
          <p:cNvSpPr/>
          <p:nvPr/>
        </p:nvSpPr>
        <p:spPr>
          <a:xfrm>
            <a:off x="1043178" y="1132570"/>
            <a:ext cx="1236821" cy="288036"/>
          </a:xfrm>
          <a:custGeom>
            <a:rect b="b" l="l" r="r" t="t"/>
            <a:pathLst>
              <a:path extrusionOk="0" h="384048" w="1649095">
                <a:moveTo>
                  <a:pt x="0" y="30353"/>
                </a:moveTo>
                <a:cubicBezTo>
                  <a:pt x="0" y="13589"/>
                  <a:pt x="13589" y="0"/>
                  <a:pt x="30353" y="0"/>
                </a:cubicBezTo>
                <a:lnTo>
                  <a:pt x="1618742" y="0"/>
                </a:lnTo>
                <a:cubicBezTo>
                  <a:pt x="1635506" y="0"/>
                  <a:pt x="1649095" y="13589"/>
                  <a:pt x="1649095" y="30353"/>
                </a:cubicBezTo>
                <a:lnTo>
                  <a:pt x="1649095" y="353695"/>
                </a:lnTo>
                <a:cubicBezTo>
                  <a:pt x="1649095" y="370459"/>
                  <a:pt x="1635506" y="384048"/>
                  <a:pt x="1618742" y="384048"/>
                </a:cubicBezTo>
                <a:lnTo>
                  <a:pt x="30353" y="384048"/>
                </a:lnTo>
                <a:cubicBezTo>
                  <a:pt x="13589" y="384048"/>
                  <a:pt x="0" y="370459"/>
                  <a:pt x="0" y="353695"/>
                </a:cubicBezTo>
                <a:close/>
              </a:path>
            </a:pathLst>
          </a:custGeom>
          <a:blipFill rotWithShape="1">
            <a:blip r:embed="rId3">
              <a:alphaModFix amt="0"/>
            </a:blip>
            <a:stretch>
              <a:fillRect b="-33671" l="0" r="1" t="-33662"/>
            </a:stretch>
          </a:blipFill>
          <a:ln cap="sq" cmpd="sng" w="9525">
            <a:solidFill>
              <a:srgbClr val="F98AC7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5"/>
          <p:cNvSpPr txBox="1"/>
          <p:nvPr/>
        </p:nvSpPr>
        <p:spPr>
          <a:xfrm>
            <a:off x="1157869" y="1201826"/>
            <a:ext cx="1922526" cy="1590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2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98AC7"/>
                </a:solidFill>
                <a:latin typeface="Source Sans 3"/>
                <a:ea typeface="Source Sans 3"/>
                <a:cs typeface="Source Sans 3"/>
                <a:sym typeface="Source Sans 3"/>
              </a:rPr>
              <a:t>SQL WORKFLOW</a:t>
            </a:r>
            <a:endParaRPr/>
          </a:p>
        </p:txBody>
      </p:sp>
      <p:sp>
        <p:nvSpPr>
          <p:cNvPr id="166" name="Google Shape;166;p15"/>
          <p:cNvSpPr/>
          <p:nvPr/>
        </p:nvSpPr>
        <p:spPr>
          <a:xfrm>
            <a:off x="2362048" y="1132570"/>
            <a:ext cx="1337977" cy="288036"/>
          </a:xfrm>
          <a:custGeom>
            <a:rect b="b" l="l" r="r" t="t"/>
            <a:pathLst>
              <a:path extrusionOk="0" h="384048" w="1783969">
                <a:moveTo>
                  <a:pt x="0" y="30353"/>
                </a:moveTo>
                <a:cubicBezTo>
                  <a:pt x="0" y="13589"/>
                  <a:pt x="13589" y="0"/>
                  <a:pt x="30353" y="0"/>
                </a:cubicBezTo>
                <a:lnTo>
                  <a:pt x="1753616" y="0"/>
                </a:lnTo>
                <a:cubicBezTo>
                  <a:pt x="1770380" y="0"/>
                  <a:pt x="1783969" y="13589"/>
                  <a:pt x="1783969" y="30353"/>
                </a:cubicBezTo>
                <a:lnTo>
                  <a:pt x="1783969" y="353695"/>
                </a:lnTo>
                <a:cubicBezTo>
                  <a:pt x="1783969" y="370459"/>
                  <a:pt x="1770380" y="384048"/>
                  <a:pt x="1753616" y="384048"/>
                </a:cubicBezTo>
                <a:lnTo>
                  <a:pt x="30353" y="384048"/>
                </a:lnTo>
                <a:cubicBezTo>
                  <a:pt x="13589" y="384048"/>
                  <a:pt x="0" y="370459"/>
                  <a:pt x="0" y="353695"/>
                </a:cubicBezTo>
                <a:close/>
              </a:path>
            </a:pathLst>
          </a:custGeom>
          <a:blipFill rotWithShape="1">
            <a:blip r:embed="rId3">
              <a:alphaModFix amt="0"/>
            </a:blip>
            <a:stretch>
              <a:fillRect b="-40511" l="0" r="2" t="-40504"/>
            </a:stretch>
          </a:blipFill>
          <a:ln cap="sq" cmpd="sng" w="9525">
            <a:solidFill>
              <a:srgbClr val="F98AC7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5"/>
          <p:cNvSpPr txBox="1"/>
          <p:nvPr/>
        </p:nvSpPr>
        <p:spPr>
          <a:xfrm>
            <a:off x="2476738" y="1201826"/>
            <a:ext cx="2023653" cy="1590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2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98AC7"/>
                </a:solidFill>
                <a:latin typeface="Source Sans 3"/>
                <a:ea typeface="Source Sans 3"/>
                <a:cs typeface="Source Sans 3"/>
                <a:sym typeface="Source Sans 3"/>
              </a:rPr>
              <a:t>IMPLEMENTATION</a:t>
            </a:r>
            <a:endParaRPr/>
          </a:p>
        </p:txBody>
      </p:sp>
      <p:sp>
        <p:nvSpPr>
          <p:cNvPr id="168" name="Google Shape;168;p15"/>
          <p:cNvSpPr txBox="1"/>
          <p:nvPr/>
        </p:nvSpPr>
        <p:spPr>
          <a:xfrm>
            <a:off x="1047950" y="1448057"/>
            <a:ext cx="16205949" cy="5585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8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77" u="none" cap="none" strike="noStrike">
                <a:solidFill>
                  <a:srgbClr val="F98AC7"/>
                </a:solidFill>
                <a:latin typeface="Lora"/>
                <a:ea typeface="Lora"/>
                <a:cs typeface="Lora"/>
                <a:sym typeface="Lora"/>
              </a:rPr>
              <a:t>SQL IMPLEMENTATION AND RESULTS</a:t>
            </a:r>
            <a:endParaRPr/>
          </a:p>
        </p:txBody>
      </p:sp>
      <p:sp>
        <p:nvSpPr>
          <p:cNvPr id="169" name="Google Shape;169;p15"/>
          <p:cNvSpPr txBox="1"/>
          <p:nvPr/>
        </p:nvSpPr>
        <p:spPr>
          <a:xfrm>
            <a:off x="1047950" y="2170595"/>
            <a:ext cx="17121035" cy="2779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5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6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The database was implemented using MySQL and SQL commands including:</a:t>
            </a:r>
            <a:endParaRPr/>
          </a:p>
        </p:txBody>
      </p:sp>
      <p:sp>
        <p:nvSpPr>
          <p:cNvPr descr="preencoded.png" id="170" name="Google Shape;170;p15"/>
          <p:cNvSpPr/>
          <p:nvPr/>
        </p:nvSpPr>
        <p:spPr>
          <a:xfrm>
            <a:off x="1047950" y="2737152"/>
            <a:ext cx="3715922" cy="2415130"/>
          </a:xfrm>
          <a:custGeom>
            <a:rect b="b" l="l" r="r" t="t"/>
            <a:pathLst>
              <a:path extrusionOk="0" h="2415130" w="3715922">
                <a:moveTo>
                  <a:pt x="0" y="0"/>
                </a:moveTo>
                <a:lnTo>
                  <a:pt x="3715922" y="0"/>
                </a:lnTo>
                <a:lnTo>
                  <a:pt x="3715922" y="2415130"/>
                </a:lnTo>
                <a:lnTo>
                  <a:pt x="0" y="241513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171" l="0" r="0" t="-171"/>
            </a:stretch>
          </a:blipFill>
          <a:ln>
            <a:noFill/>
          </a:ln>
        </p:spPr>
      </p:sp>
      <p:sp>
        <p:nvSpPr>
          <p:cNvPr id="171" name="Google Shape;171;p15"/>
          <p:cNvSpPr txBox="1"/>
          <p:nvPr/>
        </p:nvSpPr>
        <p:spPr>
          <a:xfrm>
            <a:off x="1326613" y="2930042"/>
            <a:ext cx="3234842" cy="2792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7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1" u="none" cap="none" strike="noStrike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CREATE DATABASE</a:t>
            </a:r>
            <a:endParaRPr/>
          </a:p>
        </p:txBody>
      </p:sp>
      <p:sp>
        <p:nvSpPr>
          <p:cNvPr id="172" name="Google Shape;172;p15"/>
          <p:cNvSpPr/>
          <p:nvPr/>
        </p:nvSpPr>
        <p:spPr>
          <a:xfrm>
            <a:off x="1326613" y="3353638"/>
            <a:ext cx="3234880" cy="953262"/>
          </a:xfrm>
          <a:custGeom>
            <a:rect b="b" l="l" r="r" t="t"/>
            <a:pathLst>
              <a:path extrusionOk="0" h="1271016" w="4313174">
                <a:moveTo>
                  <a:pt x="0" y="36703"/>
                </a:moveTo>
                <a:cubicBezTo>
                  <a:pt x="0" y="16383"/>
                  <a:pt x="16383" y="0"/>
                  <a:pt x="36703" y="0"/>
                </a:cubicBezTo>
                <a:lnTo>
                  <a:pt x="4276471" y="0"/>
                </a:lnTo>
                <a:cubicBezTo>
                  <a:pt x="4296791" y="0"/>
                  <a:pt x="4313174" y="16383"/>
                  <a:pt x="4313174" y="36703"/>
                </a:cubicBezTo>
                <a:lnTo>
                  <a:pt x="4313174" y="1234313"/>
                </a:lnTo>
                <a:cubicBezTo>
                  <a:pt x="4313174" y="1254633"/>
                  <a:pt x="4296791" y="1271016"/>
                  <a:pt x="4276471" y="1271016"/>
                </a:cubicBezTo>
                <a:lnTo>
                  <a:pt x="36703" y="1271016"/>
                </a:lnTo>
                <a:cubicBezTo>
                  <a:pt x="16383" y="1271016"/>
                  <a:pt x="0" y="1254633"/>
                  <a:pt x="0" y="1234313"/>
                </a:cubicBezTo>
                <a:close/>
              </a:path>
            </a:pathLst>
          </a:custGeom>
          <a:solidFill>
            <a:srgbClr val="3235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5"/>
          <p:cNvSpPr txBox="1"/>
          <p:nvPr/>
        </p:nvSpPr>
        <p:spPr>
          <a:xfrm>
            <a:off x="1546603" y="3451260"/>
            <a:ext cx="2794873" cy="6722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6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6" u="none" cap="none" strike="noStrike">
                <a:solidFill>
                  <a:srgbClr val="FF7B72"/>
                </a:solidFill>
                <a:latin typeface="Consolas"/>
                <a:ea typeface="Consolas"/>
                <a:cs typeface="Consolas"/>
                <a:sym typeface="Consolas"/>
              </a:rPr>
              <a:t>CREATE DATABASE online_food_ordering;</a:t>
            </a:r>
            <a:endParaRPr/>
          </a:p>
        </p:txBody>
      </p:sp>
      <p:sp>
        <p:nvSpPr>
          <p:cNvPr id="174" name="Google Shape;174;p15"/>
          <p:cNvSpPr txBox="1"/>
          <p:nvPr/>
        </p:nvSpPr>
        <p:spPr>
          <a:xfrm>
            <a:off x="1326613" y="4422629"/>
            <a:ext cx="3234842" cy="5272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5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6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Created the online_food_ordering database</a:t>
            </a:r>
            <a:endParaRPr/>
          </a:p>
        </p:txBody>
      </p:sp>
      <p:sp>
        <p:nvSpPr>
          <p:cNvPr descr="preencoded.png" id="175" name="Google Shape;175;p15"/>
          <p:cNvSpPr/>
          <p:nvPr/>
        </p:nvSpPr>
        <p:spPr>
          <a:xfrm>
            <a:off x="1047950" y="5280679"/>
            <a:ext cx="3715922" cy="3045619"/>
          </a:xfrm>
          <a:custGeom>
            <a:rect b="b" l="l" r="r" t="t"/>
            <a:pathLst>
              <a:path extrusionOk="0" h="3045619" w="3715922">
                <a:moveTo>
                  <a:pt x="0" y="0"/>
                </a:moveTo>
                <a:lnTo>
                  <a:pt x="3715922" y="0"/>
                </a:lnTo>
                <a:lnTo>
                  <a:pt x="3715922" y="3045619"/>
                </a:lnTo>
                <a:lnTo>
                  <a:pt x="0" y="30456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82" l="0" r="0" t="-82"/>
            </a:stretch>
          </a:blipFill>
          <a:ln>
            <a:noFill/>
          </a:ln>
        </p:spPr>
      </p:sp>
      <p:sp>
        <p:nvSpPr>
          <p:cNvPr id="176" name="Google Shape;176;p15"/>
          <p:cNvSpPr txBox="1"/>
          <p:nvPr/>
        </p:nvSpPr>
        <p:spPr>
          <a:xfrm>
            <a:off x="1326613" y="5473570"/>
            <a:ext cx="3234842" cy="2792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7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1" u="none" cap="none" strike="noStrike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INSERT INTO</a:t>
            </a:r>
            <a:endParaRPr/>
          </a:p>
        </p:txBody>
      </p:sp>
      <p:sp>
        <p:nvSpPr>
          <p:cNvPr id="177" name="Google Shape;177;p15"/>
          <p:cNvSpPr/>
          <p:nvPr/>
        </p:nvSpPr>
        <p:spPr>
          <a:xfrm>
            <a:off x="1326613" y="5897156"/>
            <a:ext cx="3234880" cy="1833087"/>
          </a:xfrm>
          <a:custGeom>
            <a:rect b="b" l="l" r="r" t="t"/>
            <a:pathLst>
              <a:path extrusionOk="0" h="2444115" w="4313174">
                <a:moveTo>
                  <a:pt x="0" y="36703"/>
                </a:moveTo>
                <a:cubicBezTo>
                  <a:pt x="0" y="16383"/>
                  <a:pt x="16383" y="0"/>
                  <a:pt x="36703" y="0"/>
                </a:cubicBezTo>
                <a:lnTo>
                  <a:pt x="4276471" y="0"/>
                </a:lnTo>
                <a:cubicBezTo>
                  <a:pt x="4296791" y="0"/>
                  <a:pt x="4313174" y="16383"/>
                  <a:pt x="4313174" y="36703"/>
                </a:cubicBezTo>
                <a:lnTo>
                  <a:pt x="4313174" y="2407412"/>
                </a:lnTo>
                <a:cubicBezTo>
                  <a:pt x="4313174" y="2427732"/>
                  <a:pt x="4296791" y="2444115"/>
                  <a:pt x="4276471" y="2444115"/>
                </a:cubicBezTo>
                <a:lnTo>
                  <a:pt x="36703" y="2444115"/>
                </a:lnTo>
                <a:cubicBezTo>
                  <a:pt x="16383" y="2444115"/>
                  <a:pt x="0" y="2427732"/>
                  <a:pt x="0" y="2407412"/>
                </a:cubicBezTo>
                <a:close/>
              </a:path>
            </a:pathLst>
          </a:custGeom>
          <a:solidFill>
            <a:srgbClr val="3235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5"/>
          <p:cNvSpPr txBox="1"/>
          <p:nvPr/>
        </p:nvSpPr>
        <p:spPr>
          <a:xfrm>
            <a:off x="1546603" y="5994787"/>
            <a:ext cx="2794873" cy="1552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6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6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INSERT INTO Customer</a:t>
            </a:r>
            <a:endParaRPr/>
          </a:p>
          <a:p>
            <a:pPr indent="0" lvl="0" marL="0" marR="0" rtl="0" algn="l">
              <a:lnSpc>
                <a:spcPct val="1596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6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(first_name, last_name, email)</a:t>
            </a:r>
            <a:endParaRPr/>
          </a:p>
          <a:p>
            <a:pPr indent="0" lvl="0" marL="0" marR="0" rtl="0" algn="l">
              <a:lnSpc>
                <a:spcPct val="1596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6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VALUES</a:t>
            </a:r>
            <a:endParaRPr/>
          </a:p>
          <a:p>
            <a:pPr indent="0" lvl="0" marL="0" marR="0" rtl="0" algn="l">
              <a:lnSpc>
                <a:spcPct val="1596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6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('Rahul', 'Sharma', 'rahul.sharma@gmail.com');</a:t>
            </a:r>
            <a:endParaRPr/>
          </a:p>
        </p:txBody>
      </p:sp>
      <p:sp>
        <p:nvSpPr>
          <p:cNvPr id="179" name="Google Shape;179;p15"/>
          <p:cNvSpPr txBox="1"/>
          <p:nvPr/>
        </p:nvSpPr>
        <p:spPr>
          <a:xfrm>
            <a:off x="1326613" y="7845971"/>
            <a:ext cx="3234842" cy="2779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5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6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Inserted sample records into tables</a:t>
            </a:r>
            <a:endParaRPr/>
          </a:p>
        </p:txBody>
      </p:sp>
      <p:sp>
        <p:nvSpPr>
          <p:cNvPr descr="preencoded.png" id="180" name="Google Shape;180;p15"/>
          <p:cNvSpPr/>
          <p:nvPr/>
        </p:nvSpPr>
        <p:spPr>
          <a:xfrm>
            <a:off x="5220824" y="2737152"/>
            <a:ext cx="3715922" cy="3294945"/>
          </a:xfrm>
          <a:custGeom>
            <a:rect b="b" l="l" r="r" t="t"/>
            <a:pathLst>
              <a:path extrusionOk="0" h="3294945" w="3715922">
                <a:moveTo>
                  <a:pt x="0" y="0"/>
                </a:moveTo>
                <a:lnTo>
                  <a:pt x="3715922" y="0"/>
                </a:lnTo>
                <a:lnTo>
                  <a:pt x="3715922" y="3294945"/>
                </a:lnTo>
                <a:lnTo>
                  <a:pt x="0" y="329494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-42" l="0" r="0" t="-42"/>
            </a:stretch>
          </a:blipFill>
          <a:ln>
            <a:noFill/>
          </a:ln>
        </p:spPr>
      </p:sp>
      <p:sp>
        <p:nvSpPr>
          <p:cNvPr id="181" name="Google Shape;181;p15"/>
          <p:cNvSpPr txBox="1"/>
          <p:nvPr/>
        </p:nvSpPr>
        <p:spPr>
          <a:xfrm>
            <a:off x="5499487" y="2930042"/>
            <a:ext cx="3234842" cy="2792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7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1" u="none" cap="none" strike="noStrike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CREATE TABLE</a:t>
            </a:r>
            <a:endParaRPr/>
          </a:p>
        </p:txBody>
      </p:sp>
      <p:sp>
        <p:nvSpPr>
          <p:cNvPr id="182" name="Google Shape;182;p15"/>
          <p:cNvSpPr/>
          <p:nvPr/>
        </p:nvSpPr>
        <p:spPr>
          <a:xfrm>
            <a:off x="5499487" y="3353638"/>
            <a:ext cx="3234880" cy="1833087"/>
          </a:xfrm>
          <a:custGeom>
            <a:rect b="b" l="l" r="r" t="t"/>
            <a:pathLst>
              <a:path extrusionOk="0" h="2444115" w="4313174">
                <a:moveTo>
                  <a:pt x="0" y="36703"/>
                </a:moveTo>
                <a:cubicBezTo>
                  <a:pt x="0" y="16383"/>
                  <a:pt x="16383" y="0"/>
                  <a:pt x="36703" y="0"/>
                </a:cubicBezTo>
                <a:lnTo>
                  <a:pt x="4276471" y="0"/>
                </a:lnTo>
                <a:cubicBezTo>
                  <a:pt x="4296791" y="0"/>
                  <a:pt x="4313174" y="16383"/>
                  <a:pt x="4313174" y="36703"/>
                </a:cubicBezTo>
                <a:lnTo>
                  <a:pt x="4313174" y="2407412"/>
                </a:lnTo>
                <a:cubicBezTo>
                  <a:pt x="4313174" y="2427732"/>
                  <a:pt x="4296791" y="2444115"/>
                  <a:pt x="4276471" y="2444115"/>
                </a:cubicBezTo>
                <a:lnTo>
                  <a:pt x="36703" y="2444115"/>
                </a:lnTo>
                <a:cubicBezTo>
                  <a:pt x="16383" y="2444115"/>
                  <a:pt x="0" y="2427732"/>
                  <a:pt x="0" y="2407412"/>
                </a:cubicBezTo>
                <a:close/>
              </a:path>
            </a:pathLst>
          </a:custGeom>
          <a:solidFill>
            <a:srgbClr val="3235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5"/>
          <p:cNvSpPr txBox="1"/>
          <p:nvPr/>
        </p:nvSpPr>
        <p:spPr>
          <a:xfrm>
            <a:off x="5719477" y="3451260"/>
            <a:ext cx="2794873" cy="1552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6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6" u="none" cap="none" strike="noStrike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CREATE TABLE Customer (</a:t>
            </a:r>
            <a:endParaRPr/>
          </a:p>
          <a:p>
            <a:pPr indent="0" lvl="0" marL="0" marR="0" rtl="0" algn="l">
              <a:lnSpc>
                <a:spcPct val="1596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6" u="none" cap="none" strike="noStrike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    customer_id INT PRIMARY KEY,</a:t>
            </a:r>
            <a:endParaRPr/>
          </a:p>
          <a:p>
            <a:pPr indent="0" lvl="0" marL="0" marR="0" rtl="0" algn="l">
              <a:lnSpc>
                <a:spcPct val="1596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6" u="none" cap="none" strike="noStrike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    first_name VARCHAR(50)</a:t>
            </a:r>
            <a:endParaRPr/>
          </a:p>
          <a:p>
            <a:pPr indent="0" lvl="0" marL="0" marR="0" rtl="0" algn="l">
              <a:lnSpc>
                <a:spcPct val="1596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6" u="none" cap="none" strike="noStrike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/>
          </a:p>
        </p:txBody>
      </p:sp>
      <p:sp>
        <p:nvSpPr>
          <p:cNvPr id="184" name="Google Shape;184;p15"/>
          <p:cNvSpPr txBox="1"/>
          <p:nvPr/>
        </p:nvSpPr>
        <p:spPr>
          <a:xfrm>
            <a:off x="5499487" y="5302444"/>
            <a:ext cx="3234842" cy="5272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5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6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Defined all six tables with columns and constraints</a:t>
            </a:r>
            <a:endParaRPr/>
          </a:p>
        </p:txBody>
      </p:sp>
      <p:sp>
        <p:nvSpPr>
          <p:cNvPr descr="preencoded.png" id="185" name="Google Shape;185;p15"/>
          <p:cNvSpPr/>
          <p:nvPr/>
        </p:nvSpPr>
        <p:spPr>
          <a:xfrm>
            <a:off x="5220824" y="6160494"/>
            <a:ext cx="3715922" cy="2165804"/>
          </a:xfrm>
          <a:custGeom>
            <a:rect b="b" l="l" r="r" t="t"/>
            <a:pathLst>
              <a:path extrusionOk="0" h="2165804" w="3715922">
                <a:moveTo>
                  <a:pt x="0" y="0"/>
                </a:moveTo>
                <a:lnTo>
                  <a:pt x="3715922" y="0"/>
                </a:lnTo>
                <a:lnTo>
                  <a:pt x="3715922" y="2165804"/>
                </a:lnTo>
                <a:lnTo>
                  <a:pt x="0" y="21658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-242" l="0" r="0" t="-243"/>
            </a:stretch>
          </a:blipFill>
          <a:ln>
            <a:noFill/>
          </a:ln>
        </p:spPr>
      </p:sp>
      <p:sp>
        <p:nvSpPr>
          <p:cNvPr id="186" name="Google Shape;186;p15"/>
          <p:cNvSpPr txBox="1"/>
          <p:nvPr/>
        </p:nvSpPr>
        <p:spPr>
          <a:xfrm>
            <a:off x="5499487" y="6353385"/>
            <a:ext cx="3234842" cy="2792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7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1" u="none" cap="none" strike="noStrike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ALTER TABLE</a:t>
            </a:r>
            <a:endParaRPr/>
          </a:p>
        </p:txBody>
      </p:sp>
      <p:sp>
        <p:nvSpPr>
          <p:cNvPr id="187" name="Google Shape;187;p15"/>
          <p:cNvSpPr/>
          <p:nvPr/>
        </p:nvSpPr>
        <p:spPr>
          <a:xfrm>
            <a:off x="5499487" y="6776971"/>
            <a:ext cx="3234880" cy="953262"/>
          </a:xfrm>
          <a:custGeom>
            <a:rect b="b" l="l" r="r" t="t"/>
            <a:pathLst>
              <a:path extrusionOk="0" h="1271016" w="4313174">
                <a:moveTo>
                  <a:pt x="0" y="36703"/>
                </a:moveTo>
                <a:cubicBezTo>
                  <a:pt x="0" y="16383"/>
                  <a:pt x="16383" y="0"/>
                  <a:pt x="36703" y="0"/>
                </a:cubicBezTo>
                <a:lnTo>
                  <a:pt x="4276471" y="0"/>
                </a:lnTo>
                <a:cubicBezTo>
                  <a:pt x="4296791" y="0"/>
                  <a:pt x="4313174" y="16383"/>
                  <a:pt x="4313174" y="36703"/>
                </a:cubicBezTo>
                <a:lnTo>
                  <a:pt x="4313174" y="1234313"/>
                </a:lnTo>
                <a:cubicBezTo>
                  <a:pt x="4313174" y="1254633"/>
                  <a:pt x="4296791" y="1271016"/>
                  <a:pt x="4276471" y="1271016"/>
                </a:cubicBezTo>
                <a:lnTo>
                  <a:pt x="36703" y="1271016"/>
                </a:lnTo>
                <a:cubicBezTo>
                  <a:pt x="16383" y="1271016"/>
                  <a:pt x="0" y="1254633"/>
                  <a:pt x="0" y="1234313"/>
                </a:cubicBezTo>
                <a:close/>
              </a:path>
            </a:pathLst>
          </a:custGeom>
          <a:solidFill>
            <a:srgbClr val="3235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5"/>
          <p:cNvSpPr txBox="1"/>
          <p:nvPr/>
        </p:nvSpPr>
        <p:spPr>
          <a:xfrm>
            <a:off x="5719477" y="6874602"/>
            <a:ext cx="2794873" cy="6722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6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6" u="none" cap="none" strike="noStrike">
                <a:solidFill>
                  <a:srgbClr val="FF7B72"/>
                </a:solidFill>
                <a:latin typeface="Consolas"/>
                <a:ea typeface="Consolas"/>
                <a:cs typeface="Consolas"/>
                <a:sym typeface="Consolas"/>
              </a:rPr>
              <a:t>ALTER TABLE Food_Item DROP COLUMN quantity_available;</a:t>
            </a:r>
            <a:endParaRPr/>
          </a:p>
        </p:txBody>
      </p:sp>
      <p:sp>
        <p:nvSpPr>
          <p:cNvPr id="189" name="Google Shape;189;p15"/>
          <p:cNvSpPr txBox="1"/>
          <p:nvPr/>
        </p:nvSpPr>
        <p:spPr>
          <a:xfrm>
            <a:off x="5499487" y="7845971"/>
            <a:ext cx="3234842" cy="2779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5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6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Modified table structures and constraints</a:t>
            </a:r>
            <a:endParaRPr/>
          </a:p>
        </p:txBody>
      </p:sp>
      <p:sp>
        <p:nvSpPr>
          <p:cNvPr descr="preencoded.png" id="190" name="Google Shape;190;p15"/>
          <p:cNvSpPr/>
          <p:nvPr/>
        </p:nvSpPr>
        <p:spPr>
          <a:xfrm>
            <a:off x="9393698" y="2737152"/>
            <a:ext cx="3715922" cy="2459079"/>
          </a:xfrm>
          <a:custGeom>
            <a:rect b="b" l="l" r="r" t="t"/>
            <a:pathLst>
              <a:path extrusionOk="0" h="2459079" w="3715922">
                <a:moveTo>
                  <a:pt x="0" y="0"/>
                </a:moveTo>
                <a:lnTo>
                  <a:pt x="3715921" y="0"/>
                </a:lnTo>
                <a:lnTo>
                  <a:pt x="3715921" y="2459078"/>
                </a:lnTo>
                <a:lnTo>
                  <a:pt x="0" y="24590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-48" l="0" r="0" t="-48"/>
            </a:stretch>
          </a:blipFill>
          <a:ln>
            <a:noFill/>
          </a:ln>
        </p:spPr>
      </p:sp>
      <p:sp>
        <p:nvSpPr>
          <p:cNvPr id="191" name="Google Shape;191;p15"/>
          <p:cNvSpPr txBox="1"/>
          <p:nvPr/>
        </p:nvSpPr>
        <p:spPr>
          <a:xfrm>
            <a:off x="9672361" y="2930042"/>
            <a:ext cx="3234842" cy="2792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7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1" u="none" cap="none" strike="noStrike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UPDATE</a:t>
            </a:r>
            <a:endParaRPr/>
          </a:p>
        </p:txBody>
      </p:sp>
      <p:sp>
        <p:nvSpPr>
          <p:cNvPr id="192" name="Google Shape;192;p15"/>
          <p:cNvSpPr/>
          <p:nvPr/>
        </p:nvSpPr>
        <p:spPr>
          <a:xfrm>
            <a:off x="9672361" y="3353638"/>
            <a:ext cx="3234880" cy="1246537"/>
          </a:xfrm>
          <a:custGeom>
            <a:rect b="b" l="l" r="r" t="t"/>
            <a:pathLst>
              <a:path extrusionOk="0" h="1662049" w="4313174">
                <a:moveTo>
                  <a:pt x="0" y="36703"/>
                </a:moveTo>
                <a:cubicBezTo>
                  <a:pt x="0" y="16383"/>
                  <a:pt x="16383" y="0"/>
                  <a:pt x="36703" y="0"/>
                </a:cubicBezTo>
                <a:lnTo>
                  <a:pt x="4276471" y="0"/>
                </a:lnTo>
                <a:cubicBezTo>
                  <a:pt x="4296791" y="0"/>
                  <a:pt x="4313174" y="16383"/>
                  <a:pt x="4313174" y="36703"/>
                </a:cubicBezTo>
                <a:lnTo>
                  <a:pt x="4313174" y="1625346"/>
                </a:lnTo>
                <a:cubicBezTo>
                  <a:pt x="4313174" y="1645666"/>
                  <a:pt x="4296791" y="1662049"/>
                  <a:pt x="4276471" y="1662049"/>
                </a:cubicBezTo>
                <a:lnTo>
                  <a:pt x="36703" y="1662049"/>
                </a:lnTo>
                <a:cubicBezTo>
                  <a:pt x="16383" y="1662049"/>
                  <a:pt x="0" y="1645666"/>
                  <a:pt x="0" y="1625346"/>
                </a:cubicBezTo>
                <a:close/>
              </a:path>
            </a:pathLst>
          </a:custGeom>
          <a:solidFill>
            <a:srgbClr val="3235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5"/>
          <p:cNvSpPr txBox="1"/>
          <p:nvPr/>
        </p:nvSpPr>
        <p:spPr>
          <a:xfrm>
            <a:off x="9892351" y="3451260"/>
            <a:ext cx="2794873" cy="9655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6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6" u="none" cap="none" strike="noStrike">
                <a:solidFill>
                  <a:srgbClr val="FF7B72"/>
                </a:solidFill>
                <a:latin typeface="Consolas"/>
                <a:ea typeface="Consolas"/>
                <a:cs typeface="Consolas"/>
                <a:sym typeface="Consolas"/>
              </a:rPr>
              <a:t>UPDATE Orders SET restaurant_id = 6 WHERE order_id = 6;</a:t>
            </a:r>
            <a:endParaRPr/>
          </a:p>
        </p:txBody>
      </p:sp>
      <p:sp>
        <p:nvSpPr>
          <p:cNvPr id="194" name="Google Shape;194;p15"/>
          <p:cNvSpPr txBox="1"/>
          <p:nvPr/>
        </p:nvSpPr>
        <p:spPr>
          <a:xfrm>
            <a:off x="9672361" y="4715904"/>
            <a:ext cx="3234842" cy="2779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5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6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Updated existing order records</a:t>
            </a:r>
            <a:endParaRPr/>
          </a:p>
        </p:txBody>
      </p:sp>
      <p:sp>
        <p:nvSpPr>
          <p:cNvPr descr="preencoded.png" id="195" name="Google Shape;195;p15"/>
          <p:cNvSpPr/>
          <p:nvPr/>
        </p:nvSpPr>
        <p:spPr>
          <a:xfrm>
            <a:off x="9393698" y="5324618"/>
            <a:ext cx="3715922" cy="3294945"/>
          </a:xfrm>
          <a:custGeom>
            <a:rect b="b" l="l" r="r" t="t"/>
            <a:pathLst>
              <a:path extrusionOk="0" h="3294945" w="3715922">
                <a:moveTo>
                  <a:pt x="0" y="0"/>
                </a:moveTo>
                <a:lnTo>
                  <a:pt x="3715921" y="0"/>
                </a:lnTo>
                <a:lnTo>
                  <a:pt x="3715921" y="3294945"/>
                </a:lnTo>
                <a:lnTo>
                  <a:pt x="0" y="329494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-42" l="0" r="0" t="-42"/>
            </a:stretch>
          </a:blipFill>
          <a:ln>
            <a:noFill/>
          </a:ln>
        </p:spPr>
      </p:sp>
      <p:sp>
        <p:nvSpPr>
          <p:cNvPr id="196" name="Google Shape;196;p15"/>
          <p:cNvSpPr txBox="1"/>
          <p:nvPr/>
        </p:nvSpPr>
        <p:spPr>
          <a:xfrm>
            <a:off x="9672361" y="5517509"/>
            <a:ext cx="3234842" cy="2792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7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1" u="none" cap="none" strike="noStrike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JOIN</a:t>
            </a:r>
            <a:endParaRPr/>
          </a:p>
        </p:txBody>
      </p:sp>
      <p:sp>
        <p:nvSpPr>
          <p:cNvPr id="197" name="Google Shape;197;p15"/>
          <p:cNvSpPr/>
          <p:nvPr/>
        </p:nvSpPr>
        <p:spPr>
          <a:xfrm>
            <a:off x="9672361" y="5941095"/>
            <a:ext cx="3234880" cy="1833087"/>
          </a:xfrm>
          <a:custGeom>
            <a:rect b="b" l="l" r="r" t="t"/>
            <a:pathLst>
              <a:path extrusionOk="0" h="2444115" w="4313174">
                <a:moveTo>
                  <a:pt x="0" y="36703"/>
                </a:moveTo>
                <a:cubicBezTo>
                  <a:pt x="0" y="16383"/>
                  <a:pt x="16383" y="0"/>
                  <a:pt x="36703" y="0"/>
                </a:cubicBezTo>
                <a:lnTo>
                  <a:pt x="4276471" y="0"/>
                </a:lnTo>
                <a:cubicBezTo>
                  <a:pt x="4296791" y="0"/>
                  <a:pt x="4313174" y="16383"/>
                  <a:pt x="4313174" y="36703"/>
                </a:cubicBezTo>
                <a:lnTo>
                  <a:pt x="4313174" y="2407412"/>
                </a:lnTo>
                <a:cubicBezTo>
                  <a:pt x="4313174" y="2427732"/>
                  <a:pt x="4296791" y="2444115"/>
                  <a:pt x="4276471" y="2444115"/>
                </a:cubicBezTo>
                <a:lnTo>
                  <a:pt x="36703" y="2444115"/>
                </a:lnTo>
                <a:cubicBezTo>
                  <a:pt x="16383" y="2444115"/>
                  <a:pt x="0" y="2427732"/>
                  <a:pt x="0" y="2407412"/>
                </a:cubicBezTo>
                <a:close/>
              </a:path>
            </a:pathLst>
          </a:custGeom>
          <a:solidFill>
            <a:srgbClr val="3235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5"/>
          <p:cNvSpPr txBox="1"/>
          <p:nvPr/>
        </p:nvSpPr>
        <p:spPr>
          <a:xfrm>
            <a:off x="9892351" y="6038726"/>
            <a:ext cx="2794873" cy="1552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6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6" u="none" cap="none" strike="noStrike">
                <a:solidFill>
                  <a:srgbClr val="FF7B72"/>
                </a:solidFill>
                <a:latin typeface="Consolas"/>
                <a:ea typeface="Consolas"/>
                <a:cs typeface="Consolas"/>
                <a:sym typeface="Consolas"/>
              </a:rPr>
              <a:t>SELECT c.first_name, o.order_id, o.total_amount</a:t>
            </a:r>
            <a:endParaRPr/>
          </a:p>
          <a:p>
            <a:pPr indent="0" lvl="0" marL="0" marR="0" rtl="0" algn="l">
              <a:lnSpc>
                <a:spcPct val="1596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6" u="none" cap="none" strike="noStrike">
                <a:solidFill>
                  <a:srgbClr val="FF7B72"/>
                </a:solidFill>
                <a:latin typeface="Consolas"/>
                <a:ea typeface="Consolas"/>
                <a:cs typeface="Consolas"/>
                <a:sym typeface="Consolas"/>
              </a:rPr>
              <a:t>FROM Customer c JOIN Orders o</a:t>
            </a:r>
            <a:endParaRPr/>
          </a:p>
          <a:p>
            <a:pPr indent="0" lvl="0" marL="0" marR="0" rtl="0" algn="l">
              <a:lnSpc>
                <a:spcPct val="1596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6" u="none" cap="none" strike="noStrike">
                <a:solidFill>
                  <a:srgbClr val="FF7B72"/>
                </a:solidFill>
                <a:latin typeface="Consolas"/>
                <a:ea typeface="Consolas"/>
                <a:cs typeface="Consolas"/>
                <a:sym typeface="Consolas"/>
              </a:rPr>
              <a:t>ON c.customer_id = o.customer_id;</a:t>
            </a:r>
            <a:endParaRPr/>
          </a:p>
        </p:txBody>
      </p:sp>
      <p:sp>
        <p:nvSpPr>
          <p:cNvPr id="199" name="Google Shape;199;p15"/>
          <p:cNvSpPr txBox="1"/>
          <p:nvPr/>
        </p:nvSpPr>
        <p:spPr>
          <a:xfrm>
            <a:off x="9672361" y="7889910"/>
            <a:ext cx="3234842" cy="5272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5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6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Combined data from multiple related tables</a:t>
            </a:r>
            <a:endParaRPr/>
          </a:p>
        </p:txBody>
      </p:sp>
      <p:sp>
        <p:nvSpPr>
          <p:cNvPr descr="preencoded.png" id="200" name="Google Shape;200;p15"/>
          <p:cNvSpPr/>
          <p:nvPr/>
        </p:nvSpPr>
        <p:spPr>
          <a:xfrm>
            <a:off x="13566562" y="2737152"/>
            <a:ext cx="3715922" cy="1872529"/>
          </a:xfrm>
          <a:custGeom>
            <a:rect b="b" l="l" r="r" t="t"/>
            <a:pathLst>
              <a:path extrusionOk="0" h="1872529" w="3715922">
                <a:moveTo>
                  <a:pt x="0" y="0"/>
                </a:moveTo>
                <a:lnTo>
                  <a:pt x="3715922" y="0"/>
                </a:lnTo>
                <a:lnTo>
                  <a:pt x="3715922" y="1872529"/>
                </a:lnTo>
                <a:lnTo>
                  <a:pt x="0" y="187252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-245" l="0" r="0" t="-245"/>
            </a:stretch>
          </a:blipFill>
          <a:ln>
            <a:noFill/>
          </a:ln>
        </p:spPr>
      </p:sp>
      <p:sp>
        <p:nvSpPr>
          <p:cNvPr id="201" name="Google Shape;201;p15"/>
          <p:cNvSpPr txBox="1"/>
          <p:nvPr/>
        </p:nvSpPr>
        <p:spPr>
          <a:xfrm>
            <a:off x="13845235" y="2930042"/>
            <a:ext cx="3234842" cy="2792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7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1" u="none" cap="none" strike="noStrike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SELECT</a:t>
            </a:r>
            <a:endParaRPr/>
          </a:p>
        </p:txBody>
      </p:sp>
      <p:sp>
        <p:nvSpPr>
          <p:cNvPr id="202" name="Google Shape;202;p15"/>
          <p:cNvSpPr/>
          <p:nvPr/>
        </p:nvSpPr>
        <p:spPr>
          <a:xfrm>
            <a:off x="13845235" y="3353638"/>
            <a:ext cx="3234880" cy="659987"/>
          </a:xfrm>
          <a:custGeom>
            <a:rect b="b" l="l" r="r" t="t"/>
            <a:pathLst>
              <a:path extrusionOk="0" h="879983" w="4313174">
                <a:moveTo>
                  <a:pt x="0" y="36703"/>
                </a:moveTo>
                <a:cubicBezTo>
                  <a:pt x="0" y="16383"/>
                  <a:pt x="16383" y="0"/>
                  <a:pt x="36703" y="0"/>
                </a:cubicBezTo>
                <a:lnTo>
                  <a:pt x="4276471" y="0"/>
                </a:lnTo>
                <a:cubicBezTo>
                  <a:pt x="4296791" y="0"/>
                  <a:pt x="4313174" y="16383"/>
                  <a:pt x="4313174" y="36703"/>
                </a:cubicBezTo>
                <a:lnTo>
                  <a:pt x="4313174" y="843280"/>
                </a:lnTo>
                <a:cubicBezTo>
                  <a:pt x="4313174" y="863600"/>
                  <a:pt x="4296791" y="879983"/>
                  <a:pt x="4276471" y="879983"/>
                </a:cubicBezTo>
                <a:lnTo>
                  <a:pt x="36703" y="879983"/>
                </a:lnTo>
                <a:cubicBezTo>
                  <a:pt x="16383" y="879983"/>
                  <a:pt x="0" y="863600"/>
                  <a:pt x="0" y="843280"/>
                </a:cubicBezTo>
                <a:close/>
              </a:path>
            </a:pathLst>
          </a:custGeom>
          <a:solidFill>
            <a:srgbClr val="3235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5"/>
          <p:cNvSpPr txBox="1"/>
          <p:nvPr/>
        </p:nvSpPr>
        <p:spPr>
          <a:xfrm>
            <a:off x="14065225" y="3451260"/>
            <a:ext cx="2794873" cy="3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6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6" u="none" cap="none" strike="noStrike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SELECT * FROM Orders;</a:t>
            </a:r>
            <a:endParaRPr/>
          </a:p>
        </p:txBody>
      </p:sp>
      <p:sp>
        <p:nvSpPr>
          <p:cNvPr id="204" name="Google Shape;204;p15"/>
          <p:cNvSpPr txBox="1"/>
          <p:nvPr/>
        </p:nvSpPr>
        <p:spPr>
          <a:xfrm>
            <a:off x="13845235" y="4129364"/>
            <a:ext cx="3234842" cy="2779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5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6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Retrieved and displayed stored data</a:t>
            </a:r>
            <a:endParaRPr/>
          </a:p>
        </p:txBody>
      </p:sp>
      <p:sp>
        <p:nvSpPr>
          <p:cNvPr descr="preencoded.png" id="205" name="Google Shape;205;p15"/>
          <p:cNvSpPr/>
          <p:nvPr/>
        </p:nvSpPr>
        <p:spPr>
          <a:xfrm>
            <a:off x="13566562" y="4738078"/>
            <a:ext cx="3715922" cy="3001680"/>
          </a:xfrm>
          <a:custGeom>
            <a:rect b="b" l="l" r="r" t="t"/>
            <a:pathLst>
              <a:path extrusionOk="0" h="3001680" w="3715922">
                <a:moveTo>
                  <a:pt x="0" y="0"/>
                </a:moveTo>
                <a:lnTo>
                  <a:pt x="3715922" y="0"/>
                </a:lnTo>
                <a:lnTo>
                  <a:pt x="3715922" y="3001680"/>
                </a:lnTo>
                <a:lnTo>
                  <a:pt x="0" y="30016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-24" l="0" r="0" t="-24"/>
            </a:stretch>
          </a:blipFill>
          <a:ln>
            <a:noFill/>
          </a:ln>
        </p:spPr>
      </p:sp>
      <p:sp>
        <p:nvSpPr>
          <p:cNvPr id="206" name="Google Shape;206;p15"/>
          <p:cNvSpPr txBox="1"/>
          <p:nvPr/>
        </p:nvSpPr>
        <p:spPr>
          <a:xfrm>
            <a:off x="13845235" y="4930959"/>
            <a:ext cx="3234842" cy="2792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7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1" u="none" cap="none" strike="noStrike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GROUP BY</a:t>
            </a:r>
            <a:endParaRPr/>
          </a:p>
        </p:txBody>
      </p:sp>
      <p:sp>
        <p:nvSpPr>
          <p:cNvPr id="207" name="Google Shape;207;p15"/>
          <p:cNvSpPr/>
          <p:nvPr/>
        </p:nvSpPr>
        <p:spPr>
          <a:xfrm>
            <a:off x="13845235" y="5354555"/>
            <a:ext cx="3234880" cy="1539812"/>
          </a:xfrm>
          <a:custGeom>
            <a:rect b="b" l="l" r="r" t="t"/>
            <a:pathLst>
              <a:path extrusionOk="0" h="2053082" w="4313174">
                <a:moveTo>
                  <a:pt x="0" y="36703"/>
                </a:moveTo>
                <a:cubicBezTo>
                  <a:pt x="0" y="16383"/>
                  <a:pt x="16383" y="0"/>
                  <a:pt x="36703" y="0"/>
                </a:cubicBezTo>
                <a:lnTo>
                  <a:pt x="4276471" y="0"/>
                </a:lnTo>
                <a:cubicBezTo>
                  <a:pt x="4296791" y="0"/>
                  <a:pt x="4313174" y="16383"/>
                  <a:pt x="4313174" y="36703"/>
                </a:cubicBezTo>
                <a:lnTo>
                  <a:pt x="4313174" y="2016379"/>
                </a:lnTo>
                <a:cubicBezTo>
                  <a:pt x="4313174" y="2036699"/>
                  <a:pt x="4296791" y="2053082"/>
                  <a:pt x="4276471" y="2053082"/>
                </a:cubicBezTo>
                <a:lnTo>
                  <a:pt x="36703" y="2053082"/>
                </a:lnTo>
                <a:cubicBezTo>
                  <a:pt x="16383" y="2053082"/>
                  <a:pt x="0" y="2036699"/>
                  <a:pt x="0" y="2016379"/>
                </a:cubicBezTo>
                <a:close/>
              </a:path>
            </a:pathLst>
          </a:custGeom>
          <a:solidFill>
            <a:srgbClr val="3235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5"/>
          <p:cNvSpPr txBox="1"/>
          <p:nvPr/>
        </p:nvSpPr>
        <p:spPr>
          <a:xfrm>
            <a:off x="14065225" y="5452177"/>
            <a:ext cx="2794873" cy="1258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6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6" u="none" cap="none" strike="noStrike">
                <a:solidFill>
                  <a:srgbClr val="FF7B72"/>
                </a:solidFill>
                <a:latin typeface="Consolas"/>
                <a:ea typeface="Consolas"/>
                <a:cs typeface="Consolas"/>
                <a:sym typeface="Consolas"/>
              </a:rPr>
              <a:t>SELECT restaurant_id, COUNT(*) AS total_orders</a:t>
            </a:r>
            <a:endParaRPr/>
          </a:p>
          <a:p>
            <a:pPr indent="0" lvl="0" marL="0" marR="0" rtl="0" algn="l">
              <a:lnSpc>
                <a:spcPct val="1596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6" u="none" cap="none" strike="noStrike">
                <a:solidFill>
                  <a:srgbClr val="FF7B72"/>
                </a:solidFill>
                <a:latin typeface="Consolas"/>
                <a:ea typeface="Consolas"/>
                <a:cs typeface="Consolas"/>
                <a:sym typeface="Consolas"/>
              </a:rPr>
              <a:t>FROM Orders GROUP BY restaurant_id;</a:t>
            </a:r>
            <a:endParaRPr/>
          </a:p>
        </p:txBody>
      </p:sp>
      <p:sp>
        <p:nvSpPr>
          <p:cNvPr id="209" name="Google Shape;209;p15"/>
          <p:cNvSpPr txBox="1"/>
          <p:nvPr/>
        </p:nvSpPr>
        <p:spPr>
          <a:xfrm>
            <a:off x="13845235" y="7010095"/>
            <a:ext cx="3234842" cy="5272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5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6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Analyzed and aggregated data by restaurant</a:t>
            </a:r>
            <a:endParaRPr/>
          </a:p>
        </p:txBody>
      </p:sp>
      <p:sp>
        <p:nvSpPr>
          <p:cNvPr id="210" name="Google Shape;210;p15"/>
          <p:cNvSpPr txBox="1"/>
          <p:nvPr/>
        </p:nvSpPr>
        <p:spPr>
          <a:xfrm>
            <a:off x="1047950" y="8879643"/>
            <a:ext cx="17121035" cy="2779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5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6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SQL commands were used to create, modify, populate, retrieve and analyze data in the Online Food Ordering System database.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6"/>
          <p:cNvSpPr/>
          <p:nvPr/>
        </p:nvSpPr>
        <p:spPr>
          <a:xfrm>
            <a:off x="0" y="0"/>
            <a:ext cx="18301811" cy="10295001"/>
          </a:xfrm>
          <a:custGeom>
            <a:rect b="b" l="l" r="r" t="t"/>
            <a:pathLst>
              <a:path extrusionOk="0" h="13726668" w="24402414">
                <a:moveTo>
                  <a:pt x="0" y="0"/>
                </a:moveTo>
                <a:lnTo>
                  <a:pt x="24402414" y="0"/>
                </a:lnTo>
                <a:lnTo>
                  <a:pt x="24402414" y="13726668"/>
                </a:lnTo>
                <a:lnTo>
                  <a:pt x="0" y="13726668"/>
                </a:lnTo>
                <a:close/>
              </a:path>
            </a:pathLst>
          </a:custGeom>
          <a:solidFill>
            <a:srgbClr val="181A24"/>
          </a:solidFill>
          <a:ln>
            <a:noFill/>
          </a:ln>
        </p:spPr>
      </p:sp>
      <p:sp>
        <p:nvSpPr>
          <p:cNvPr id="220" name="Google Shape;220;p16"/>
          <p:cNvSpPr/>
          <p:nvPr/>
        </p:nvSpPr>
        <p:spPr>
          <a:xfrm>
            <a:off x="0" y="0"/>
            <a:ext cx="18301811" cy="10295001"/>
          </a:xfrm>
          <a:custGeom>
            <a:rect b="b" l="l" r="r" t="t"/>
            <a:pathLst>
              <a:path extrusionOk="0" h="13726668" w="24402414">
                <a:moveTo>
                  <a:pt x="0" y="0"/>
                </a:moveTo>
                <a:lnTo>
                  <a:pt x="24402414" y="0"/>
                </a:lnTo>
                <a:lnTo>
                  <a:pt x="24402414" y="13726668"/>
                </a:lnTo>
                <a:lnTo>
                  <a:pt x="0" y="13726668"/>
                </a:lnTo>
                <a:close/>
              </a:path>
            </a:pathLst>
          </a:custGeom>
          <a:solidFill>
            <a:srgbClr val="252833"/>
          </a:solidFill>
          <a:ln>
            <a:noFill/>
          </a:ln>
        </p:spPr>
      </p:sp>
      <p:sp>
        <p:nvSpPr>
          <p:cNvPr id="221" name="Google Shape;221;p16"/>
          <p:cNvSpPr/>
          <p:nvPr/>
        </p:nvSpPr>
        <p:spPr>
          <a:xfrm>
            <a:off x="1043178" y="1327099"/>
            <a:ext cx="1943100" cy="407480"/>
          </a:xfrm>
          <a:custGeom>
            <a:rect b="b" l="l" r="r" t="t"/>
            <a:pathLst>
              <a:path extrusionOk="0" h="543306" w="2590800">
                <a:moveTo>
                  <a:pt x="0" y="42926"/>
                </a:moveTo>
                <a:cubicBezTo>
                  <a:pt x="0" y="19177"/>
                  <a:pt x="19177" y="0"/>
                  <a:pt x="42926" y="0"/>
                </a:cubicBezTo>
                <a:lnTo>
                  <a:pt x="2547874" y="0"/>
                </a:lnTo>
                <a:cubicBezTo>
                  <a:pt x="2571496" y="0"/>
                  <a:pt x="2590800" y="19177"/>
                  <a:pt x="2590800" y="42926"/>
                </a:cubicBezTo>
                <a:lnTo>
                  <a:pt x="2590800" y="500380"/>
                </a:lnTo>
                <a:cubicBezTo>
                  <a:pt x="2590800" y="524129"/>
                  <a:pt x="2571623" y="543306"/>
                  <a:pt x="2547874" y="543306"/>
                </a:cubicBezTo>
                <a:lnTo>
                  <a:pt x="42926" y="543306"/>
                </a:lnTo>
                <a:cubicBezTo>
                  <a:pt x="19177" y="543306"/>
                  <a:pt x="0" y="524129"/>
                  <a:pt x="0" y="500380"/>
                </a:cubicBezTo>
                <a:close/>
              </a:path>
            </a:pathLst>
          </a:custGeom>
          <a:blipFill rotWithShape="1">
            <a:blip r:embed="rId3">
              <a:alphaModFix amt="0"/>
            </a:blip>
            <a:stretch>
              <a:fillRect b="-42919" l="0" r="0" t="-42910"/>
            </a:stretch>
          </a:blipFill>
          <a:ln cap="sq" cmpd="sng" w="9525">
            <a:solidFill>
              <a:srgbClr val="F98AC7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6"/>
          <p:cNvSpPr txBox="1"/>
          <p:nvPr/>
        </p:nvSpPr>
        <p:spPr>
          <a:xfrm>
            <a:off x="1205084" y="1419882"/>
            <a:ext cx="2534374" cy="231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1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6" u="none" cap="none" strike="noStrike">
                <a:solidFill>
                  <a:srgbClr val="F98AC7"/>
                </a:solidFill>
                <a:latin typeface="Source Sans 3"/>
                <a:ea typeface="Source Sans 3"/>
                <a:cs typeface="Source Sans 3"/>
                <a:sym typeface="Source Sans 3"/>
              </a:rPr>
              <a:t>DATABASE DESIGN</a:t>
            </a:r>
            <a:endParaRPr/>
          </a:p>
        </p:txBody>
      </p:sp>
      <p:sp>
        <p:nvSpPr>
          <p:cNvPr id="223" name="Google Shape;223;p16"/>
          <p:cNvSpPr/>
          <p:nvPr/>
        </p:nvSpPr>
        <p:spPr>
          <a:xfrm>
            <a:off x="3107646" y="1327099"/>
            <a:ext cx="1315117" cy="407480"/>
          </a:xfrm>
          <a:custGeom>
            <a:rect b="b" l="l" r="r" t="t"/>
            <a:pathLst>
              <a:path extrusionOk="0" h="543306" w="1753489">
                <a:moveTo>
                  <a:pt x="0" y="42926"/>
                </a:moveTo>
                <a:cubicBezTo>
                  <a:pt x="0" y="19177"/>
                  <a:pt x="19177" y="0"/>
                  <a:pt x="42926" y="0"/>
                </a:cubicBezTo>
                <a:lnTo>
                  <a:pt x="1710563" y="0"/>
                </a:lnTo>
                <a:cubicBezTo>
                  <a:pt x="1734312" y="0"/>
                  <a:pt x="1753489" y="19177"/>
                  <a:pt x="1753489" y="42926"/>
                </a:cubicBezTo>
                <a:lnTo>
                  <a:pt x="1753489" y="500380"/>
                </a:lnTo>
                <a:cubicBezTo>
                  <a:pt x="1753489" y="524129"/>
                  <a:pt x="1734312" y="543306"/>
                  <a:pt x="1710563" y="543306"/>
                </a:cubicBezTo>
                <a:lnTo>
                  <a:pt x="42926" y="543306"/>
                </a:lnTo>
                <a:cubicBezTo>
                  <a:pt x="19177" y="543306"/>
                  <a:pt x="0" y="524129"/>
                  <a:pt x="0" y="500380"/>
                </a:cubicBezTo>
                <a:close/>
              </a:path>
            </a:pathLst>
          </a:custGeom>
          <a:blipFill rotWithShape="1">
            <a:blip r:embed="rId3">
              <a:alphaModFix amt="0"/>
            </a:blip>
            <a:stretch>
              <a:fillRect b="-12892" l="0" r="-2" t="-12883"/>
            </a:stretch>
          </a:blipFill>
          <a:ln cap="sq" cmpd="sng" w="9525">
            <a:solidFill>
              <a:srgbClr val="F98AC7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6"/>
          <p:cNvSpPr txBox="1"/>
          <p:nvPr/>
        </p:nvSpPr>
        <p:spPr>
          <a:xfrm>
            <a:off x="3269552" y="1419882"/>
            <a:ext cx="1906438" cy="231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1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6" u="none" cap="none" strike="noStrike">
                <a:solidFill>
                  <a:srgbClr val="F98AC7"/>
                </a:solidFill>
                <a:latin typeface="Source Sans 3"/>
                <a:ea typeface="Source Sans 3"/>
                <a:cs typeface="Source Sans 3"/>
                <a:sym typeface="Source Sans 3"/>
              </a:rPr>
              <a:t>DATA FLOW</a:t>
            </a:r>
            <a:endParaRPr/>
          </a:p>
        </p:txBody>
      </p:sp>
      <p:sp>
        <p:nvSpPr>
          <p:cNvPr id="225" name="Google Shape;225;p16"/>
          <p:cNvSpPr txBox="1"/>
          <p:nvPr/>
        </p:nvSpPr>
        <p:spPr>
          <a:xfrm>
            <a:off x="1047950" y="1825028"/>
            <a:ext cx="16205949" cy="7800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8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803" u="none" cap="none" strike="noStrike">
                <a:solidFill>
                  <a:srgbClr val="F98AC7"/>
                </a:solidFill>
                <a:latin typeface="Lora"/>
                <a:ea typeface="Lora"/>
                <a:cs typeface="Lora"/>
                <a:sym typeface="Lora"/>
              </a:rPr>
              <a:t>RELATIONSHIPS AND DATA FLOW</a:t>
            </a:r>
            <a:endParaRPr/>
          </a:p>
        </p:txBody>
      </p:sp>
      <p:sp>
        <p:nvSpPr>
          <p:cNvPr id="226" name="Google Shape;226;p16"/>
          <p:cNvSpPr txBox="1"/>
          <p:nvPr/>
        </p:nvSpPr>
        <p:spPr>
          <a:xfrm>
            <a:off x="1047950" y="2921756"/>
            <a:ext cx="17121035" cy="4953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26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Database Entity Relationships:</a:t>
            </a:r>
            <a:endParaRPr/>
          </a:p>
        </p:txBody>
      </p:sp>
      <p:sp>
        <p:nvSpPr>
          <p:cNvPr descr="preencoded.png" id="227" name="Google Shape;227;p16"/>
          <p:cNvSpPr/>
          <p:nvPr/>
        </p:nvSpPr>
        <p:spPr>
          <a:xfrm>
            <a:off x="1047950" y="3711845"/>
            <a:ext cx="3854882" cy="1928089"/>
          </a:xfrm>
          <a:custGeom>
            <a:rect b="b" l="l" r="r" t="t"/>
            <a:pathLst>
              <a:path extrusionOk="0" h="1928089" w="3854882">
                <a:moveTo>
                  <a:pt x="0" y="0"/>
                </a:moveTo>
                <a:lnTo>
                  <a:pt x="3854882" y="0"/>
                </a:lnTo>
                <a:lnTo>
                  <a:pt x="3854882" y="1928088"/>
                </a:lnTo>
                <a:lnTo>
                  <a:pt x="0" y="19280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106" l="0" r="0" t="-106"/>
            </a:stretch>
          </a:blipFill>
          <a:ln>
            <a:noFill/>
          </a:ln>
        </p:spPr>
      </p:sp>
      <p:sp>
        <p:nvSpPr>
          <p:cNvPr id="228" name="Google Shape;228;p16"/>
          <p:cNvSpPr txBox="1"/>
          <p:nvPr/>
        </p:nvSpPr>
        <p:spPr>
          <a:xfrm>
            <a:off x="1452915" y="4002434"/>
            <a:ext cx="3159328" cy="3853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8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1" u="none" cap="none" strike="noStrike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Customer → Orders</a:t>
            </a:r>
            <a:endParaRPr/>
          </a:p>
        </p:txBody>
      </p:sp>
      <p:sp>
        <p:nvSpPr>
          <p:cNvPr id="229" name="Google Shape;229;p16"/>
          <p:cNvSpPr txBox="1"/>
          <p:nvPr/>
        </p:nvSpPr>
        <p:spPr>
          <a:xfrm>
            <a:off x="1452915" y="4468692"/>
            <a:ext cx="3159328" cy="4953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26" u="none" cap="none" strike="noStrike">
                <a:solidFill>
                  <a:srgbClr val="E76F51"/>
                </a:solidFill>
                <a:latin typeface="Source Sans 3"/>
                <a:ea typeface="Source Sans 3"/>
                <a:cs typeface="Source Sans 3"/>
                <a:sym typeface="Source Sans 3"/>
              </a:rPr>
              <a:t>1:M</a:t>
            </a:r>
            <a:r>
              <a:rPr b="0" i="0" lang="en-US" sz="2026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 customer_id</a:t>
            </a:r>
            <a:endParaRPr/>
          </a:p>
        </p:txBody>
      </p:sp>
      <p:sp>
        <p:nvSpPr>
          <p:cNvPr descr="preencoded.png" id="230" name="Google Shape;230;p16"/>
          <p:cNvSpPr/>
          <p:nvPr/>
        </p:nvSpPr>
        <p:spPr>
          <a:xfrm>
            <a:off x="5164817" y="3711845"/>
            <a:ext cx="3855034" cy="1928089"/>
          </a:xfrm>
          <a:custGeom>
            <a:rect b="b" l="l" r="r" t="t"/>
            <a:pathLst>
              <a:path extrusionOk="0" h="1928089" w="3855034">
                <a:moveTo>
                  <a:pt x="0" y="0"/>
                </a:moveTo>
                <a:lnTo>
                  <a:pt x="3855034" y="0"/>
                </a:lnTo>
                <a:lnTo>
                  <a:pt x="3855034" y="1928088"/>
                </a:lnTo>
                <a:lnTo>
                  <a:pt x="0" y="19280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108" l="0" r="0" t="-108"/>
            </a:stretch>
          </a:blipFill>
          <a:ln>
            <a:noFill/>
          </a:ln>
        </p:spPr>
      </p:sp>
      <p:sp>
        <p:nvSpPr>
          <p:cNvPr id="231" name="Google Shape;231;p16"/>
          <p:cNvSpPr txBox="1"/>
          <p:nvPr/>
        </p:nvSpPr>
        <p:spPr>
          <a:xfrm>
            <a:off x="5569791" y="4002434"/>
            <a:ext cx="3159481" cy="3853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8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1" u="none" cap="none" strike="noStrike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Restaurant → Orders</a:t>
            </a:r>
            <a:endParaRPr/>
          </a:p>
        </p:txBody>
      </p:sp>
      <p:sp>
        <p:nvSpPr>
          <p:cNvPr id="232" name="Google Shape;232;p16"/>
          <p:cNvSpPr txBox="1"/>
          <p:nvPr/>
        </p:nvSpPr>
        <p:spPr>
          <a:xfrm>
            <a:off x="5569791" y="4468692"/>
            <a:ext cx="3159481" cy="4953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26" u="none" cap="none" strike="noStrike">
                <a:solidFill>
                  <a:srgbClr val="E76F51"/>
                </a:solidFill>
                <a:latin typeface="Source Sans 3"/>
                <a:ea typeface="Source Sans 3"/>
                <a:cs typeface="Source Sans 3"/>
                <a:sym typeface="Source Sans 3"/>
              </a:rPr>
              <a:t>1:M</a:t>
            </a:r>
            <a:r>
              <a:rPr b="0" i="0" lang="en-US" sz="2026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 restaurant_id</a:t>
            </a:r>
            <a:endParaRPr/>
          </a:p>
        </p:txBody>
      </p:sp>
      <p:sp>
        <p:nvSpPr>
          <p:cNvPr descr="preencoded.png" id="233" name="Google Shape;233;p16"/>
          <p:cNvSpPr/>
          <p:nvPr/>
        </p:nvSpPr>
        <p:spPr>
          <a:xfrm>
            <a:off x="9281836" y="3711845"/>
            <a:ext cx="3855034" cy="1928089"/>
          </a:xfrm>
          <a:custGeom>
            <a:rect b="b" l="l" r="r" t="t"/>
            <a:pathLst>
              <a:path extrusionOk="0" h="1928089" w="3855034">
                <a:moveTo>
                  <a:pt x="0" y="0"/>
                </a:moveTo>
                <a:lnTo>
                  <a:pt x="3855034" y="0"/>
                </a:lnTo>
                <a:lnTo>
                  <a:pt x="3855034" y="1928088"/>
                </a:lnTo>
                <a:lnTo>
                  <a:pt x="0" y="19280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108" l="0" r="0" t="-108"/>
            </a:stretch>
          </a:blipFill>
          <a:ln>
            <a:noFill/>
          </a:ln>
        </p:spPr>
      </p:sp>
      <p:sp>
        <p:nvSpPr>
          <p:cNvPr id="234" name="Google Shape;234;p16"/>
          <p:cNvSpPr txBox="1"/>
          <p:nvPr/>
        </p:nvSpPr>
        <p:spPr>
          <a:xfrm>
            <a:off x="9686811" y="4002434"/>
            <a:ext cx="3159481" cy="770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8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1" u="none" cap="none" strike="noStrike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Restaurant → Food_Item</a:t>
            </a:r>
            <a:endParaRPr/>
          </a:p>
        </p:txBody>
      </p:sp>
      <p:sp>
        <p:nvSpPr>
          <p:cNvPr id="235" name="Google Shape;235;p16"/>
          <p:cNvSpPr txBox="1"/>
          <p:nvPr/>
        </p:nvSpPr>
        <p:spPr>
          <a:xfrm>
            <a:off x="9686811" y="4854016"/>
            <a:ext cx="3159481" cy="4953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26" u="none" cap="none" strike="noStrike">
                <a:solidFill>
                  <a:srgbClr val="E76F51"/>
                </a:solidFill>
                <a:latin typeface="Source Sans 3"/>
                <a:ea typeface="Source Sans 3"/>
                <a:cs typeface="Source Sans 3"/>
                <a:sym typeface="Source Sans 3"/>
              </a:rPr>
              <a:t>1:M</a:t>
            </a:r>
            <a:r>
              <a:rPr b="0" i="0" lang="en-US" sz="2026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 restaurant_id</a:t>
            </a:r>
            <a:endParaRPr/>
          </a:p>
        </p:txBody>
      </p:sp>
      <p:sp>
        <p:nvSpPr>
          <p:cNvPr descr="preencoded.png" id="236" name="Google Shape;236;p16"/>
          <p:cNvSpPr/>
          <p:nvPr/>
        </p:nvSpPr>
        <p:spPr>
          <a:xfrm>
            <a:off x="13398856" y="3711845"/>
            <a:ext cx="3855034" cy="1928089"/>
          </a:xfrm>
          <a:custGeom>
            <a:rect b="b" l="l" r="r" t="t"/>
            <a:pathLst>
              <a:path extrusionOk="0" h="1928089" w="3855034">
                <a:moveTo>
                  <a:pt x="0" y="0"/>
                </a:moveTo>
                <a:lnTo>
                  <a:pt x="3855034" y="0"/>
                </a:lnTo>
                <a:lnTo>
                  <a:pt x="3855034" y="1928088"/>
                </a:lnTo>
                <a:lnTo>
                  <a:pt x="0" y="19280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108" l="0" r="0" t="-108"/>
            </a:stretch>
          </a:blipFill>
          <a:ln>
            <a:noFill/>
          </a:ln>
        </p:spPr>
      </p:sp>
      <p:sp>
        <p:nvSpPr>
          <p:cNvPr id="237" name="Google Shape;237;p16"/>
          <p:cNvSpPr txBox="1"/>
          <p:nvPr/>
        </p:nvSpPr>
        <p:spPr>
          <a:xfrm>
            <a:off x="13803830" y="4002434"/>
            <a:ext cx="3159481" cy="770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8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1" u="none" cap="none" strike="noStrike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Orders → Order_Detail</a:t>
            </a:r>
            <a:endParaRPr/>
          </a:p>
        </p:txBody>
      </p:sp>
      <p:sp>
        <p:nvSpPr>
          <p:cNvPr id="238" name="Google Shape;238;p16"/>
          <p:cNvSpPr txBox="1"/>
          <p:nvPr/>
        </p:nvSpPr>
        <p:spPr>
          <a:xfrm>
            <a:off x="13803830" y="4854016"/>
            <a:ext cx="3159481" cy="4953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26" u="none" cap="none" strike="noStrike">
                <a:solidFill>
                  <a:srgbClr val="E76F51"/>
                </a:solidFill>
                <a:latin typeface="Source Sans 3"/>
                <a:ea typeface="Source Sans 3"/>
                <a:cs typeface="Source Sans 3"/>
                <a:sym typeface="Source Sans 3"/>
              </a:rPr>
              <a:t>1:M</a:t>
            </a:r>
            <a:r>
              <a:rPr b="0" i="0" lang="en-US" sz="2026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 order_id</a:t>
            </a:r>
            <a:endParaRPr/>
          </a:p>
        </p:txBody>
      </p:sp>
      <p:sp>
        <p:nvSpPr>
          <p:cNvPr descr="preencoded.png" id="239" name="Google Shape;239;p16"/>
          <p:cNvSpPr/>
          <p:nvPr/>
        </p:nvSpPr>
        <p:spPr>
          <a:xfrm>
            <a:off x="1047950" y="5901928"/>
            <a:ext cx="3854882" cy="1928089"/>
          </a:xfrm>
          <a:custGeom>
            <a:rect b="b" l="l" r="r" t="t"/>
            <a:pathLst>
              <a:path extrusionOk="0" h="1928089" w="3854882">
                <a:moveTo>
                  <a:pt x="0" y="0"/>
                </a:moveTo>
                <a:lnTo>
                  <a:pt x="3854882" y="0"/>
                </a:lnTo>
                <a:lnTo>
                  <a:pt x="3854882" y="1928089"/>
                </a:lnTo>
                <a:lnTo>
                  <a:pt x="0" y="192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106" l="0" r="0" t="-106"/>
            </a:stretch>
          </a:blipFill>
          <a:ln>
            <a:noFill/>
          </a:ln>
        </p:spPr>
      </p:sp>
      <p:sp>
        <p:nvSpPr>
          <p:cNvPr id="240" name="Google Shape;240;p16"/>
          <p:cNvSpPr txBox="1"/>
          <p:nvPr/>
        </p:nvSpPr>
        <p:spPr>
          <a:xfrm>
            <a:off x="1452915" y="6192517"/>
            <a:ext cx="3159328" cy="770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8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1" u="none" cap="none" strike="noStrike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Food_Item → Order_Detail</a:t>
            </a:r>
            <a:endParaRPr/>
          </a:p>
        </p:txBody>
      </p:sp>
      <p:sp>
        <p:nvSpPr>
          <p:cNvPr id="241" name="Google Shape;241;p16"/>
          <p:cNvSpPr txBox="1"/>
          <p:nvPr/>
        </p:nvSpPr>
        <p:spPr>
          <a:xfrm>
            <a:off x="1452915" y="7044090"/>
            <a:ext cx="3159328" cy="4953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26" u="none" cap="none" strike="noStrike">
                <a:solidFill>
                  <a:srgbClr val="E76F51"/>
                </a:solidFill>
                <a:latin typeface="Source Sans 3"/>
                <a:ea typeface="Source Sans 3"/>
                <a:cs typeface="Source Sans 3"/>
                <a:sym typeface="Source Sans 3"/>
              </a:rPr>
              <a:t>1:M</a:t>
            </a:r>
            <a:r>
              <a:rPr b="0" i="0" lang="en-US" sz="2026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 food_id</a:t>
            </a:r>
            <a:endParaRPr/>
          </a:p>
        </p:txBody>
      </p:sp>
      <p:sp>
        <p:nvSpPr>
          <p:cNvPr descr="preencoded.png" id="242" name="Google Shape;242;p16"/>
          <p:cNvSpPr/>
          <p:nvPr/>
        </p:nvSpPr>
        <p:spPr>
          <a:xfrm>
            <a:off x="5164817" y="5901928"/>
            <a:ext cx="3855034" cy="1928089"/>
          </a:xfrm>
          <a:custGeom>
            <a:rect b="b" l="l" r="r" t="t"/>
            <a:pathLst>
              <a:path extrusionOk="0" h="1928089" w="3855034">
                <a:moveTo>
                  <a:pt x="0" y="0"/>
                </a:moveTo>
                <a:lnTo>
                  <a:pt x="3855034" y="0"/>
                </a:lnTo>
                <a:lnTo>
                  <a:pt x="3855034" y="1928089"/>
                </a:lnTo>
                <a:lnTo>
                  <a:pt x="0" y="192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108" l="0" r="0" t="-108"/>
            </a:stretch>
          </a:blipFill>
          <a:ln>
            <a:noFill/>
          </a:ln>
        </p:spPr>
      </p:sp>
      <p:sp>
        <p:nvSpPr>
          <p:cNvPr id="243" name="Google Shape;243;p16"/>
          <p:cNvSpPr txBox="1"/>
          <p:nvPr/>
        </p:nvSpPr>
        <p:spPr>
          <a:xfrm>
            <a:off x="5569791" y="6192517"/>
            <a:ext cx="3159481" cy="3853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8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1" u="none" cap="none" strike="noStrike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Orders → Payment</a:t>
            </a:r>
            <a:endParaRPr/>
          </a:p>
        </p:txBody>
      </p:sp>
      <p:sp>
        <p:nvSpPr>
          <p:cNvPr id="244" name="Google Shape;244;p16"/>
          <p:cNvSpPr txBox="1"/>
          <p:nvPr/>
        </p:nvSpPr>
        <p:spPr>
          <a:xfrm>
            <a:off x="5569791" y="6658775"/>
            <a:ext cx="3159481" cy="4953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26" u="none" cap="none" strike="noStrike">
                <a:solidFill>
                  <a:srgbClr val="D96B5F"/>
                </a:solidFill>
                <a:latin typeface="Source Sans 3"/>
                <a:ea typeface="Source Sans 3"/>
                <a:cs typeface="Source Sans 3"/>
                <a:sym typeface="Source Sans 3"/>
              </a:rPr>
              <a:t>1:1</a:t>
            </a:r>
            <a:r>
              <a:rPr b="0" i="0" lang="en-US" sz="2026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 order_id</a:t>
            </a:r>
            <a:endParaRPr/>
          </a:p>
        </p:txBody>
      </p:sp>
      <p:sp>
        <p:nvSpPr>
          <p:cNvPr id="245" name="Google Shape;245;p16"/>
          <p:cNvSpPr txBox="1"/>
          <p:nvPr/>
        </p:nvSpPr>
        <p:spPr>
          <a:xfrm>
            <a:off x="1047950" y="8048577"/>
            <a:ext cx="16205949" cy="9144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26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Data Flow:</a:t>
            </a:r>
            <a:r>
              <a:rPr b="0" i="0" lang="en-US" sz="2026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 A Customer places an Order with a Restaurant. Each Order contains multiple Order_Details, which reference Food_Items. Each Order is associated with one Payment record.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7"/>
          <p:cNvSpPr/>
          <p:nvPr/>
        </p:nvSpPr>
        <p:spPr>
          <a:xfrm>
            <a:off x="0" y="0"/>
            <a:ext cx="18301811" cy="10295001"/>
          </a:xfrm>
          <a:custGeom>
            <a:rect b="b" l="l" r="r" t="t"/>
            <a:pathLst>
              <a:path extrusionOk="0" h="13726668" w="24402414">
                <a:moveTo>
                  <a:pt x="0" y="0"/>
                </a:moveTo>
                <a:lnTo>
                  <a:pt x="24402414" y="0"/>
                </a:lnTo>
                <a:lnTo>
                  <a:pt x="24402414" y="13726668"/>
                </a:lnTo>
                <a:lnTo>
                  <a:pt x="0" y="13726668"/>
                </a:lnTo>
                <a:close/>
              </a:path>
            </a:pathLst>
          </a:custGeom>
          <a:solidFill>
            <a:srgbClr val="181A24"/>
          </a:solidFill>
          <a:ln>
            <a:noFill/>
          </a:ln>
        </p:spPr>
      </p:sp>
      <p:sp>
        <p:nvSpPr>
          <p:cNvPr id="255" name="Google Shape;255;p17"/>
          <p:cNvSpPr/>
          <p:nvPr/>
        </p:nvSpPr>
        <p:spPr>
          <a:xfrm>
            <a:off x="0" y="0"/>
            <a:ext cx="18301811" cy="10295001"/>
          </a:xfrm>
          <a:custGeom>
            <a:rect b="b" l="l" r="r" t="t"/>
            <a:pathLst>
              <a:path extrusionOk="0" h="13726668" w="24402414">
                <a:moveTo>
                  <a:pt x="0" y="0"/>
                </a:moveTo>
                <a:lnTo>
                  <a:pt x="24402414" y="0"/>
                </a:lnTo>
                <a:lnTo>
                  <a:pt x="24402414" y="13726668"/>
                </a:lnTo>
                <a:lnTo>
                  <a:pt x="0" y="13726668"/>
                </a:lnTo>
                <a:close/>
              </a:path>
            </a:pathLst>
          </a:custGeom>
          <a:solidFill>
            <a:srgbClr val="252833"/>
          </a:solidFill>
          <a:ln>
            <a:noFill/>
          </a:ln>
        </p:spPr>
      </p:sp>
      <p:sp>
        <p:nvSpPr>
          <p:cNvPr id="256" name="Google Shape;256;p17"/>
          <p:cNvSpPr/>
          <p:nvPr/>
        </p:nvSpPr>
        <p:spPr>
          <a:xfrm>
            <a:off x="1043178" y="771677"/>
            <a:ext cx="912304" cy="276892"/>
          </a:xfrm>
          <a:custGeom>
            <a:rect b="b" l="l" r="r" t="t"/>
            <a:pathLst>
              <a:path extrusionOk="0" h="369189" w="1216406">
                <a:moveTo>
                  <a:pt x="0" y="29210"/>
                </a:moveTo>
                <a:cubicBezTo>
                  <a:pt x="0" y="13081"/>
                  <a:pt x="13081" y="0"/>
                  <a:pt x="29210" y="0"/>
                </a:cubicBezTo>
                <a:lnTo>
                  <a:pt x="1187196" y="0"/>
                </a:lnTo>
                <a:cubicBezTo>
                  <a:pt x="1203325" y="0"/>
                  <a:pt x="1216406" y="13081"/>
                  <a:pt x="1216406" y="29210"/>
                </a:cubicBezTo>
                <a:lnTo>
                  <a:pt x="1216406" y="339979"/>
                </a:lnTo>
                <a:cubicBezTo>
                  <a:pt x="1216406" y="356108"/>
                  <a:pt x="1203325" y="369189"/>
                  <a:pt x="1187196" y="369189"/>
                </a:cubicBezTo>
                <a:lnTo>
                  <a:pt x="29210" y="369189"/>
                </a:lnTo>
                <a:cubicBezTo>
                  <a:pt x="13081" y="369189"/>
                  <a:pt x="0" y="356108"/>
                  <a:pt x="0" y="339979"/>
                </a:cubicBezTo>
                <a:close/>
              </a:path>
            </a:pathLst>
          </a:custGeom>
          <a:blipFill rotWithShape="1">
            <a:blip r:embed="rId3">
              <a:alphaModFix amt="0"/>
            </a:blip>
            <a:stretch>
              <a:fillRect b="-14196" l="0" r="4" t="-14196"/>
            </a:stretch>
          </a:blipFill>
          <a:ln cap="sq" cmpd="sng" w="9525">
            <a:solidFill>
              <a:srgbClr val="F98AC7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7"/>
          <p:cNvSpPr txBox="1"/>
          <p:nvPr/>
        </p:nvSpPr>
        <p:spPr>
          <a:xfrm>
            <a:off x="1153544" y="829170"/>
            <a:ext cx="1606620" cy="1619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2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98AC7"/>
                </a:solidFill>
                <a:latin typeface="Source Sans 3"/>
                <a:ea typeface="Source Sans 3"/>
                <a:cs typeface="Source Sans 3"/>
                <a:sym typeface="Source Sans 3"/>
              </a:rPr>
              <a:t>FOOD TECH</a:t>
            </a:r>
            <a:endParaRPr/>
          </a:p>
        </p:txBody>
      </p:sp>
      <p:sp>
        <p:nvSpPr>
          <p:cNvPr id="258" name="Google Shape;258;p17"/>
          <p:cNvSpPr/>
          <p:nvPr/>
        </p:nvSpPr>
        <p:spPr>
          <a:xfrm>
            <a:off x="2038550" y="776449"/>
            <a:ext cx="1437417" cy="267367"/>
          </a:xfrm>
          <a:custGeom>
            <a:rect b="b" l="l" r="r" t="t"/>
            <a:pathLst>
              <a:path extrusionOk="0" h="356489" w="1916557">
                <a:moveTo>
                  <a:pt x="0" y="28194"/>
                </a:moveTo>
                <a:cubicBezTo>
                  <a:pt x="0" y="12573"/>
                  <a:pt x="12573" y="0"/>
                  <a:pt x="28194" y="0"/>
                </a:cubicBezTo>
                <a:lnTo>
                  <a:pt x="1888363" y="0"/>
                </a:lnTo>
                <a:cubicBezTo>
                  <a:pt x="1903857" y="0"/>
                  <a:pt x="1916557" y="12573"/>
                  <a:pt x="1916557" y="28194"/>
                </a:cubicBezTo>
                <a:lnTo>
                  <a:pt x="1916557" y="328295"/>
                </a:lnTo>
                <a:cubicBezTo>
                  <a:pt x="1916557" y="343789"/>
                  <a:pt x="1903984" y="356489"/>
                  <a:pt x="1888363" y="356489"/>
                </a:cubicBezTo>
                <a:lnTo>
                  <a:pt x="28194" y="356489"/>
                </a:lnTo>
                <a:cubicBezTo>
                  <a:pt x="12573" y="356489"/>
                  <a:pt x="0" y="343916"/>
                  <a:pt x="0" y="328295"/>
                </a:cubicBezTo>
                <a:close/>
              </a:path>
            </a:pathLst>
          </a:custGeom>
          <a:solidFill>
            <a:srgbClr val="4904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7"/>
          <p:cNvSpPr txBox="1"/>
          <p:nvPr/>
        </p:nvSpPr>
        <p:spPr>
          <a:xfrm>
            <a:off x="2144154" y="829170"/>
            <a:ext cx="2141325" cy="1619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2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SCHEMA REFERENCE</a:t>
            </a:r>
            <a:endParaRPr/>
          </a:p>
        </p:txBody>
      </p:sp>
      <p:sp>
        <p:nvSpPr>
          <p:cNvPr id="260" name="Google Shape;260;p17"/>
          <p:cNvSpPr txBox="1"/>
          <p:nvPr/>
        </p:nvSpPr>
        <p:spPr>
          <a:xfrm>
            <a:off x="1047950" y="1071972"/>
            <a:ext cx="16205949" cy="5367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7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27" u="none" cap="none" strike="noStrike">
                <a:solidFill>
                  <a:srgbClr val="F98AC7"/>
                </a:solidFill>
                <a:latin typeface="Lora"/>
                <a:ea typeface="Lora"/>
                <a:cs typeface="Lora"/>
                <a:sym typeface="Lora"/>
              </a:rPr>
              <a:t>ORDERS AND ORDER_DETAIL TABLES</a:t>
            </a:r>
            <a:endParaRPr/>
          </a:p>
        </p:txBody>
      </p:sp>
      <p:sp>
        <p:nvSpPr>
          <p:cNvPr id="261" name="Google Shape;261;p17"/>
          <p:cNvSpPr txBox="1"/>
          <p:nvPr/>
        </p:nvSpPr>
        <p:spPr>
          <a:xfrm>
            <a:off x="1047950" y="1767088"/>
            <a:ext cx="17121035" cy="2543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1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Clean schema reference for the two core transaction tables and their key relationships.</a:t>
            </a:r>
            <a:endParaRPr/>
          </a:p>
        </p:txBody>
      </p:sp>
      <p:sp>
        <p:nvSpPr>
          <p:cNvPr id="262" name="Google Shape;262;p17"/>
          <p:cNvSpPr txBox="1"/>
          <p:nvPr/>
        </p:nvSpPr>
        <p:spPr>
          <a:xfrm>
            <a:off x="1047950" y="2263216"/>
            <a:ext cx="7888205" cy="2683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8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6" u="none" cap="none" strike="noStrike">
                <a:solidFill>
                  <a:srgbClr val="F98AC7"/>
                </a:solidFill>
                <a:latin typeface="Lora"/>
                <a:ea typeface="Lora"/>
                <a:cs typeface="Lora"/>
                <a:sym typeface="Lora"/>
              </a:rPr>
              <a:t>Orders Table</a:t>
            </a:r>
            <a:endParaRPr/>
          </a:p>
        </p:txBody>
      </p:sp>
      <p:sp>
        <p:nvSpPr>
          <p:cNvPr id="263" name="Google Shape;263;p17"/>
          <p:cNvSpPr txBox="1"/>
          <p:nvPr/>
        </p:nvSpPr>
        <p:spPr>
          <a:xfrm>
            <a:off x="9375229" y="2263216"/>
            <a:ext cx="7888205" cy="2683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8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6" u="none" cap="none" strike="noStrike">
                <a:solidFill>
                  <a:srgbClr val="F98AC7"/>
                </a:solidFill>
                <a:latin typeface="Lora"/>
                <a:ea typeface="Lora"/>
                <a:cs typeface="Lora"/>
                <a:sym typeface="Lora"/>
              </a:rPr>
              <a:t>Order_Detail Table</a:t>
            </a:r>
            <a:endParaRPr/>
          </a:p>
        </p:txBody>
      </p:sp>
      <p:sp>
        <p:nvSpPr>
          <p:cNvPr id="264" name="Google Shape;264;p17"/>
          <p:cNvSpPr txBox="1"/>
          <p:nvPr/>
        </p:nvSpPr>
        <p:spPr>
          <a:xfrm>
            <a:off x="1047950" y="2817743"/>
            <a:ext cx="16205949" cy="2683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8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6" u="none" cap="none" strike="noStrike">
                <a:solidFill>
                  <a:srgbClr val="F98AC7"/>
                </a:solidFill>
                <a:latin typeface="Lora"/>
                <a:ea typeface="Lora"/>
                <a:cs typeface="Lora"/>
                <a:sym typeface="Lora"/>
              </a:rPr>
              <a:t>Key Relationships</a:t>
            </a:r>
            <a:endParaRPr/>
          </a:p>
        </p:txBody>
      </p:sp>
      <p:sp>
        <p:nvSpPr>
          <p:cNvPr descr="preencoded.png" id="265" name="Google Shape;265;p17"/>
          <p:cNvSpPr/>
          <p:nvPr/>
        </p:nvSpPr>
        <p:spPr>
          <a:xfrm>
            <a:off x="1047950" y="3263522"/>
            <a:ext cx="3962714" cy="860603"/>
          </a:xfrm>
          <a:custGeom>
            <a:rect b="b" l="l" r="r" t="t"/>
            <a:pathLst>
              <a:path extrusionOk="0" h="860603" w="3962714">
                <a:moveTo>
                  <a:pt x="0" y="0"/>
                </a:moveTo>
                <a:lnTo>
                  <a:pt x="3962714" y="0"/>
                </a:lnTo>
                <a:lnTo>
                  <a:pt x="3962714" y="860603"/>
                </a:lnTo>
                <a:lnTo>
                  <a:pt x="0" y="86060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794" l="0" r="0" t="-793"/>
            </a:stretch>
          </a:blipFill>
          <a:ln>
            <a:noFill/>
          </a:ln>
        </p:spPr>
      </p:sp>
      <p:sp>
        <p:nvSpPr>
          <p:cNvPr id="266" name="Google Shape;266;p17"/>
          <p:cNvSpPr txBox="1"/>
          <p:nvPr/>
        </p:nvSpPr>
        <p:spPr>
          <a:xfrm>
            <a:off x="1319165" y="3439439"/>
            <a:ext cx="3496532" cy="4897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1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Orders.customer_id references Customer.customer_id</a:t>
            </a:r>
            <a:endParaRPr/>
          </a:p>
        </p:txBody>
      </p:sp>
      <p:sp>
        <p:nvSpPr>
          <p:cNvPr descr="preencoded.png" id="267" name="Google Shape;267;p17"/>
          <p:cNvSpPr/>
          <p:nvPr/>
        </p:nvSpPr>
        <p:spPr>
          <a:xfrm>
            <a:off x="5128927" y="3263522"/>
            <a:ext cx="3962867" cy="860603"/>
          </a:xfrm>
          <a:custGeom>
            <a:rect b="b" l="l" r="r" t="t"/>
            <a:pathLst>
              <a:path extrusionOk="0" h="860603" w="3962867">
                <a:moveTo>
                  <a:pt x="0" y="0"/>
                </a:moveTo>
                <a:lnTo>
                  <a:pt x="3962866" y="0"/>
                </a:lnTo>
                <a:lnTo>
                  <a:pt x="3962866" y="860603"/>
                </a:lnTo>
                <a:lnTo>
                  <a:pt x="0" y="86060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795" l="0" r="0" t="-795"/>
            </a:stretch>
          </a:blipFill>
          <a:ln>
            <a:noFill/>
          </a:ln>
        </p:spPr>
      </p:sp>
      <p:sp>
        <p:nvSpPr>
          <p:cNvPr id="268" name="Google Shape;268;p17"/>
          <p:cNvSpPr txBox="1"/>
          <p:nvPr/>
        </p:nvSpPr>
        <p:spPr>
          <a:xfrm>
            <a:off x="5400142" y="3439439"/>
            <a:ext cx="3496685" cy="4897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1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Orders.restaurant_id references Restaurant.restaurant_id</a:t>
            </a:r>
            <a:endParaRPr/>
          </a:p>
        </p:txBody>
      </p:sp>
      <p:sp>
        <p:nvSpPr>
          <p:cNvPr descr="preencoded.png" id="269" name="Google Shape;269;p17"/>
          <p:cNvSpPr/>
          <p:nvPr/>
        </p:nvSpPr>
        <p:spPr>
          <a:xfrm>
            <a:off x="9210046" y="3263522"/>
            <a:ext cx="3962714" cy="860603"/>
          </a:xfrm>
          <a:custGeom>
            <a:rect b="b" l="l" r="r" t="t"/>
            <a:pathLst>
              <a:path extrusionOk="0" h="860603" w="3962714">
                <a:moveTo>
                  <a:pt x="0" y="0"/>
                </a:moveTo>
                <a:lnTo>
                  <a:pt x="3962715" y="0"/>
                </a:lnTo>
                <a:lnTo>
                  <a:pt x="3962715" y="860603"/>
                </a:lnTo>
                <a:lnTo>
                  <a:pt x="0" y="86060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794" l="0" r="0" t="-793"/>
            </a:stretch>
          </a:blipFill>
          <a:ln>
            <a:noFill/>
          </a:ln>
        </p:spPr>
      </p:sp>
      <p:sp>
        <p:nvSpPr>
          <p:cNvPr id="270" name="Google Shape;270;p17"/>
          <p:cNvSpPr txBox="1"/>
          <p:nvPr/>
        </p:nvSpPr>
        <p:spPr>
          <a:xfrm>
            <a:off x="9481271" y="3439439"/>
            <a:ext cx="3496532" cy="4897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1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Order_Detail.order_id references Orders.order_id</a:t>
            </a:r>
            <a:endParaRPr/>
          </a:p>
        </p:txBody>
      </p:sp>
      <p:sp>
        <p:nvSpPr>
          <p:cNvPr descr="preencoded.png" id="271" name="Google Shape;271;p17"/>
          <p:cNvSpPr/>
          <p:nvPr/>
        </p:nvSpPr>
        <p:spPr>
          <a:xfrm>
            <a:off x="13291023" y="3263522"/>
            <a:ext cx="3962867" cy="860603"/>
          </a:xfrm>
          <a:custGeom>
            <a:rect b="b" l="l" r="r" t="t"/>
            <a:pathLst>
              <a:path extrusionOk="0" h="860603" w="3962867">
                <a:moveTo>
                  <a:pt x="0" y="0"/>
                </a:moveTo>
                <a:lnTo>
                  <a:pt x="3962867" y="0"/>
                </a:lnTo>
                <a:lnTo>
                  <a:pt x="3962867" y="860603"/>
                </a:lnTo>
                <a:lnTo>
                  <a:pt x="0" y="86060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795" l="0" r="0" t="-795"/>
            </a:stretch>
          </a:blipFill>
          <a:ln>
            <a:noFill/>
          </a:ln>
        </p:spPr>
      </p:sp>
      <p:sp>
        <p:nvSpPr>
          <p:cNvPr id="272" name="Google Shape;272;p17"/>
          <p:cNvSpPr txBox="1"/>
          <p:nvPr/>
        </p:nvSpPr>
        <p:spPr>
          <a:xfrm>
            <a:off x="13562247" y="3439439"/>
            <a:ext cx="3496685" cy="4897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1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Order_Detail.food_id references Food_Item.food_id</a:t>
            </a:r>
            <a:endParaRPr/>
          </a:p>
        </p:txBody>
      </p:sp>
      <p:sp>
        <p:nvSpPr>
          <p:cNvPr descr="preencoded.png" id="273" name="Google Shape;273;p17"/>
          <p:cNvSpPr/>
          <p:nvPr/>
        </p:nvSpPr>
        <p:spPr>
          <a:xfrm>
            <a:off x="1047950" y="4257132"/>
            <a:ext cx="14269688" cy="2554700"/>
          </a:xfrm>
          <a:custGeom>
            <a:rect b="b" l="l" r="r" t="t"/>
            <a:pathLst>
              <a:path extrusionOk="0" h="3406267" w="19026251">
                <a:moveTo>
                  <a:pt x="0" y="0"/>
                </a:moveTo>
                <a:lnTo>
                  <a:pt x="19026251" y="0"/>
                </a:lnTo>
                <a:lnTo>
                  <a:pt x="19026251" y="3406267"/>
                </a:lnTo>
                <a:lnTo>
                  <a:pt x="0" y="340626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-1" r="-1" t="0"/>
            </a:stretch>
          </a:blipFill>
          <a:ln>
            <a:noFill/>
          </a:ln>
        </p:spPr>
      </p:sp>
      <p:sp>
        <p:nvSpPr>
          <p:cNvPr descr="preencoded.png" id="274" name="Google Shape;274;p17"/>
          <p:cNvSpPr/>
          <p:nvPr/>
        </p:nvSpPr>
        <p:spPr>
          <a:xfrm>
            <a:off x="1047950" y="6944839"/>
            <a:ext cx="11581639" cy="2573750"/>
          </a:xfrm>
          <a:custGeom>
            <a:rect b="b" l="l" r="r" t="t"/>
            <a:pathLst>
              <a:path extrusionOk="0" h="3431667" w="15442185">
                <a:moveTo>
                  <a:pt x="0" y="0"/>
                </a:moveTo>
                <a:lnTo>
                  <a:pt x="15442185" y="0"/>
                </a:lnTo>
                <a:lnTo>
                  <a:pt x="15442185" y="3431667"/>
                </a:lnTo>
                <a:lnTo>
                  <a:pt x="0" y="343166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-1" r="-1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8"/>
          <p:cNvSpPr/>
          <p:nvPr/>
        </p:nvSpPr>
        <p:spPr>
          <a:xfrm>
            <a:off x="0" y="0"/>
            <a:ext cx="18301811" cy="10295001"/>
          </a:xfrm>
          <a:custGeom>
            <a:rect b="b" l="l" r="r" t="t"/>
            <a:pathLst>
              <a:path extrusionOk="0" h="13726668" w="24402414">
                <a:moveTo>
                  <a:pt x="0" y="0"/>
                </a:moveTo>
                <a:lnTo>
                  <a:pt x="24402414" y="0"/>
                </a:lnTo>
                <a:lnTo>
                  <a:pt x="24402414" y="13726668"/>
                </a:lnTo>
                <a:lnTo>
                  <a:pt x="0" y="13726668"/>
                </a:lnTo>
                <a:close/>
              </a:path>
            </a:pathLst>
          </a:custGeom>
          <a:solidFill>
            <a:srgbClr val="181A24"/>
          </a:solidFill>
          <a:ln>
            <a:noFill/>
          </a:ln>
        </p:spPr>
      </p:sp>
      <p:sp>
        <p:nvSpPr>
          <p:cNvPr id="284" name="Google Shape;284;p18"/>
          <p:cNvSpPr/>
          <p:nvPr/>
        </p:nvSpPr>
        <p:spPr>
          <a:xfrm>
            <a:off x="0" y="0"/>
            <a:ext cx="18301811" cy="10295001"/>
          </a:xfrm>
          <a:custGeom>
            <a:rect b="b" l="l" r="r" t="t"/>
            <a:pathLst>
              <a:path extrusionOk="0" h="13726668" w="24402414">
                <a:moveTo>
                  <a:pt x="0" y="0"/>
                </a:moveTo>
                <a:lnTo>
                  <a:pt x="24402414" y="0"/>
                </a:lnTo>
                <a:lnTo>
                  <a:pt x="24402414" y="13726668"/>
                </a:lnTo>
                <a:lnTo>
                  <a:pt x="0" y="13726668"/>
                </a:lnTo>
                <a:close/>
              </a:path>
            </a:pathLst>
          </a:custGeom>
          <a:solidFill>
            <a:srgbClr val="252833"/>
          </a:solidFill>
          <a:ln>
            <a:noFill/>
          </a:ln>
        </p:spPr>
      </p:sp>
      <p:sp>
        <p:nvSpPr>
          <p:cNvPr id="285" name="Google Shape;285;p18"/>
          <p:cNvSpPr/>
          <p:nvPr/>
        </p:nvSpPr>
        <p:spPr>
          <a:xfrm>
            <a:off x="1043178" y="715680"/>
            <a:ext cx="1005459" cy="301847"/>
          </a:xfrm>
          <a:custGeom>
            <a:rect b="b" l="l" r="r" t="t"/>
            <a:pathLst>
              <a:path extrusionOk="0" h="402463" w="1340612">
                <a:moveTo>
                  <a:pt x="0" y="31750"/>
                </a:moveTo>
                <a:cubicBezTo>
                  <a:pt x="0" y="14224"/>
                  <a:pt x="14224" y="0"/>
                  <a:pt x="31750" y="0"/>
                </a:cubicBezTo>
                <a:lnTo>
                  <a:pt x="1308862" y="0"/>
                </a:lnTo>
                <a:cubicBezTo>
                  <a:pt x="1326388" y="0"/>
                  <a:pt x="1340612" y="14224"/>
                  <a:pt x="1340612" y="31750"/>
                </a:cubicBezTo>
                <a:lnTo>
                  <a:pt x="1340612" y="370713"/>
                </a:lnTo>
                <a:cubicBezTo>
                  <a:pt x="1340612" y="388239"/>
                  <a:pt x="1326388" y="402463"/>
                  <a:pt x="1308862" y="402463"/>
                </a:cubicBezTo>
                <a:lnTo>
                  <a:pt x="31750" y="402463"/>
                </a:lnTo>
                <a:cubicBezTo>
                  <a:pt x="14224" y="402463"/>
                  <a:pt x="0" y="388239"/>
                  <a:pt x="0" y="370713"/>
                </a:cubicBezTo>
                <a:close/>
              </a:path>
            </a:pathLst>
          </a:custGeom>
          <a:blipFill rotWithShape="1">
            <a:blip r:embed="rId3">
              <a:alphaModFix amt="0"/>
            </a:blip>
            <a:stretch>
              <a:fillRect b="-14918" l="0" r="-3" t="-14896"/>
            </a:stretch>
          </a:blipFill>
          <a:ln cap="sq" cmpd="sng" w="9525">
            <a:solidFill>
              <a:srgbClr val="F98AC7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8"/>
          <p:cNvSpPr txBox="1"/>
          <p:nvPr/>
        </p:nvSpPr>
        <p:spPr>
          <a:xfrm>
            <a:off x="1163374" y="787613"/>
            <a:ext cx="1680200" cy="1675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98AC7"/>
                </a:solidFill>
                <a:latin typeface="Source Sans 3"/>
                <a:ea typeface="Source Sans 3"/>
                <a:cs typeface="Source Sans 3"/>
                <a:sym typeface="Source Sans 3"/>
              </a:rPr>
              <a:t>FOOD-TECH</a:t>
            </a:r>
            <a:endParaRPr/>
          </a:p>
        </p:txBody>
      </p:sp>
      <p:sp>
        <p:nvSpPr>
          <p:cNvPr id="287" name="Google Shape;287;p18"/>
          <p:cNvSpPr/>
          <p:nvPr/>
        </p:nvSpPr>
        <p:spPr>
          <a:xfrm>
            <a:off x="2135210" y="715680"/>
            <a:ext cx="1482090" cy="301847"/>
          </a:xfrm>
          <a:custGeom>
            <a:rect b="b" l="l" r="r" t="t"/>
            <a:pathLst>
              <a:path extrusionOk="0" h="402463" w="1976120">
                <a:moveTo>
                  <a:pt x="0" y="31750"/>
                </a:moveTo>
                <a:cubicBezTo>
                  <a:pt x="0" y="14224"/>
                  <a:pt x="14224" y="0"/>
                  <a:pt x="31750" y="0"/>
                </a:cubicBezTo>
                <a:lnTo>
                  <a:pt x="1944370" y="0"/>
                </a:lnTo>
                <a:cubicBezTo>
                  <a:pt x="1961896" y="0"/>
                  <a:pt x="1976120" y="14224"/>
                  <a:pt x="1976120" y="31750"/>
                </a:cubicBezTo>
                <a:lnTo>
                  <a:pt x="1976120" y="370713"/>
                </a:lnTo>
                <a:cubicBezTo>
                  <a:pt x="1976120" y="388239"/>
                  <a:pt x="1961896" y="402463"/>
                  <a:pt x="1944370" y="402463"/>
                </a:cubicBezTo>
                <a:lnTo>
                  <a:pt x="31750" y="402463"/>
                </a:lnTo>
                <a:cubicBezTo>
                  <a:pt x="14224" y="402463"/>
                  <a:pt x="0" y="388239"/>
                  <a:pt x="0" y="370713"/>
                </a:cubicBezTo>
                <a:close/>
              </a:path>
            </a:pathLst>
          </a:custGeom>
          <a:blipFill rotWithShape="1">
            <a:blip r:embed="rId3">
              <a:alphaModFix amt="0"/>
            </a:blip>
            <a:stretch>
              <a:fillRect b="-45684" l="0" r="-1" t="-45663"/>
            </a:stretch>
          </a:blipFill>
          <a:ln cap="sq" cmpd="sng" w="9525">
            <a:solidFill>
              <a:srgbClr val="F98AC7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8"/>
          <p:cNvSpPr txBox="1"/>
          <p:nvPr/>
        </p:nvSpPr>
        <p:spPr>
          <a:xfrm>
            <a:off x="2255406" y="787613"/>
            <a:ext cx="2156812" cy="1675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98AC7"/>
                </a:solidFill>
                <a:latin typeface="Source Sans 3"/>
                <a:ea typeface="Source Sans 3"/>
                <a:cs typeface="Source Sans 3"/>
                <a:sym typeface="Source Sans 3"/>
              </a:rPr>
              <a:t>DATABASE SCHEMA</a:t>
            </a:r>
            <a:endParaRPr/>
          </a:p>
        </p:txBody>
      </p:sp>
      <p:sp>
        <p:nvSpPr>
          <p:cNvPr id="289" name="Google Shape;289;p18"/>
          <p:cNvSpPr txBox="1"/>
          <p:nvPr/>
        </p:nvSpPr>
        <p:spPr>
          <a:xfrm>
            <a:off x="1047950" y="1050226"/>
            <a:ext cx="16205949" cy="5850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8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527" u="none" cap="none" strike="noStrike">
                <a:solidFill>
                  <a:srgbClr val="E76F51"/>
                </a:solidFill>
                <a:latin typeface="Lora"/>
                <a:ea typeface="Lora"/>
                <a:cs typeface="Lora"/>
                <a:sym typeface="Lora"/>
              </a:rPr>
              <a:t>PAYMENT TABLE</a:t>
            </a:r>
            <a:endParaRPr/>
          </a:p>
        </p:txBody>
      </p:sp>
      <p:sp>
        <p:nvSpPr>
          <p:cNvPr id="290" name="Google Shape;290;p18"/>
          <p:cNvSpPr txBox="1"/>
          <p:nvPr/>
        </p:nvSpPr>
        <p:spPr>
          <a:xfrm>
            <a:off x="1047950" y="1828162"/>
            <a:ext cx="17121035" cy="285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17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1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MySQL screenshot of the Payment table with sample records</a:t>
            </a:r>
            <a:endParaRPr/>
          </a:p>
        </p:txBody>
      </p:sp>
      <p:graphicFrame>
        <p:nvGraphicFramePr>
          <p:cNvPr id="291" name="Google Shape;291;p18"/>
          <p:cNvGraphicFramePr/>
          <p:nvPr/>
        </p:nvGraphicFramePr>
        <p:xfrm>
          <a:off x="1047948" y="227304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{636B0008-C4DF-4A8D-9502-7F4B8CF02A44}</a:tableStyleId>
              </a:tblPr>
              <a:tblGrid>
                <a:gridCol w="1620525"/>
                <a:gridCol w="1620525"/>
                <a:gridCol w="1620525"/>
                <a:gridCol w="1620525"/>
                <a:gridCol w="1620525"/>
                <a:gridCol w="1620525"/>
                <a:gridCol w="1620525"/>
                <a:gridCol w="1620525"/>
                <a:gridCol w="1620525"/>
                <a:gridCol w="1620525"/>
              </a:tblGrid>
              <a:tr h="705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99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1" u="none" cap="none" strike="noStrike">
                          <a:solidFill>
                            <a:srgbClr val="D6E5EF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payment_id</a:t>
                      </a:r>
                      <a:endParaRPr sz="1100" u="none" cap="none" strike="noStrike"/>
                    </a:p>
                  </a:txBody>
                  <a:tcPr marT="128175" marB="128175" marR="128175" marL="128175" anchor="ctr">
                    <a:lnL cap="flat" cmpd="sng" w="12700">
                      <a:solidFill>
                        <a:srgbClr val="595C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95C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95C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95C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28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99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1" u="none" cap="none" strike="noStrike">
                          <a:solidFill>
                            <a:srgbClr val="D6E5EF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order_id</a:t>
                      </a:r>
                      <a:endParaRPr sz="1100" u="none" cap="none" strike="noStrike"/>
                    </a:p>
                  </a:txBody>
                  <a:tcPr marT="128175" marB="128175" marR="128175" marL="128175" anchor="ctr">
                    <a:lnL cap="flat" cmpd="sng" w="12700">
                      <a:solidFill>
                        <a:srgbClr val="595C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95C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95C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95C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28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99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1" u="none" cap="none" strike="noStrike">
                          <a:solidFill>
                            <a:srgbClr val="D6E5EF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payment_date</a:t>
                      </a:r>
                      <a:endParaRPr sz="1100" u="none" cap="none" strike="noStrike"/>
                    </a:p>
                  </a:txBody>
                  <a:tcPr marT="128175" marB="128175" marR="128175" marL="128175" anchor="ctr">
                    <a:lnL cap="flat" cmpd="sng" w="12700">
                      <a:solidFill>
                        <a:srgbClr val="595C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95C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95C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95C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28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99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1" u="none" cap="none" strike="noStrike">
                          <a:solidFill>
                            <a:srgbClr val="D6E5EF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payment_time</a:t>
                      </a:r>
                      <a:endParaRPr sz="1100" u="none" cap="none" strike="noStrike"/>
                    </a:p>
                  </a:txBody>
                  <a:tcPr marT="128175" marB="128175" marR="128175" marL="128175" anchor="ctr">
                    <a:lnL cap="flat" cmpd="sng" w="12700">
                      <a:solidFill>
                        <a:srgbClr val="595C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95C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95C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95C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28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99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1" u="none" cap="none" strike="noStrike">
                          <a:solidFill>
                            <a:srgbClr val="D6E5EF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amount</a:t>
                      </a:r>
                      <a:endParaRPr sz="1100" u="none" cap="none" strike="noStrike"/>
                    </a:p>
                  </a:txBody>
                  <a:tcPr marT="128175" marB="128175" marR="128175" marL="128175" anchor="ctr">
                    <a:lnL cap="flat" cmpd="sng" w="12700">
                      <a:solidFill>
                        <a:srgbClr val="595C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95C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95C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95C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28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99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1" u="none" cap="none" strike="noStrike">
                          <a:solidFill>
                            <a:srgbClr val="D6E5EF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payment_method</a:t>
                      </a:r>
                      <a:endParaRPr sz="1100" u="none" cap="none" strike="noStrike"/>
                    </a:p>
                  </a:txBody>
                  <a:tcPr marT="128175" marB="128175" marR="128175" marL="128175" anchor="ctr">
                    <a:lnL cap="flat" cmpd="sng" w="12700">
                      <a:solidFill>
                        <a:srgbClr val="595C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95C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95C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95C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28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99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1" u="none" cap="none" strike="noStrike">
                          <a:solidFill>
                            <a:srgbClr val="D6E5EF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transaction_id</a:t>
                      </a:r>
                      <a:endParaRPr sz="1100" u="none" cap="none" strike="noStrike"/>
                    </a:p>
                  </a:txBody>
                  <a:tcPr marT="128175" marB="128175" marR="128175" marL="128175" anchor="ctr">
                    <a:lnL cap="flat" cmpd="sng" w="12700">
                      <a:solidFill>
                        <a:srgbClr val="595C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95C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95C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95C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28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99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1" u="none" cap="none" strike="noStrike">
                          <a:solidFill>
                            <a:srgbClr val="D6E5EF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payment_status</a:t>
                      </a:r>
                      <a:endParaRPr sz="1100" u="none" cap="none" strike="noStrike"/>
                    </a:p>
                  </a:txBody>
                  <a:tcPr marT="128175" marB="128175" marR="128175" marL="128175" anchor="ctr">
                    <a:lnL cap="flat" cmpd="sng" w="12700">
                      <a:solidFill>
                        <a:srgbClr val="595C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95C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95C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95C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28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99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1" u="none" cap="none" strike="noStrike">
                          <a:solidFill>
                            <a:srgbClr val="D6E5EF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refund_amount</a:t>
                      </a:r>
                      <a:endParaRPr sz="1100" u="none" cap="none" strike="noStrike"/>
                    </a:p>
                  </a:txBody>
                  <a:tcPr marT="128175" marB="128175" marR="128175" marL="128175" anchor="ctr">
                    <a:lnL cap="flat" cmpd="sng" w="12700">
                      <a:solidFill>
                        <a:srgbClr val="595C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95C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95C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95C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28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99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1" u="none" cap="none" strike="noStrike">
                          <a:solidFill>
                            <a:srgbClr val="D6E5EF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refund_status</a:t>
                      </a:r>
                      <a:endParaRPr sz="1100" u="none" cap="none" strike="noStrike"/>
                    </a:p>
                  </a:txBody>
                  <a:tcPr marT="128175" marB="128175" marR="128175" marL="128175" anchor="ctr">
                    <a:lnL cap="flat" cmpd="sng" w="12700">
                      <a:solidFill>
                        <a:srgbClr val="595C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95C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95C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95C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2833"/>
                    </a:solidFill>
                  </a:tcPr>
                </a:tc>
              </a:tr>
            </a:tbl>
          </a:graphicData>
        </a:graphic>
      </p:graphicFrame>
      <p:sp>
        <p:nvSpPr>
          <p:cNvPr id="292" name="Google Shape;292;p18"/>
          <p:cNvSpPr txBox="1"/>
          <p:nvPr/>
        </p:nvSpPr>
        <p:spPr>
          <a:xfrm>
            <a:off x="1047950" y="3154366"/>
            <a:ext cx="17121035" cy="285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17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1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The Payment.order_id column is a Foreign Key that references Orders.order_id, establishing a one-to-one relationship between orders and payments.</a:t>
            </a:r>
            <a:endParaRPr/>
          </a:p>
        </p:txBody>
      </p:sp>
      <p:sp>
        <p:nvSpPr>
          <p:cNvPr descr="preencoded.png" id="293" name="Google Shape;293;p18"/>
          <p:cNvSpPr/>
          <p:nvPr/>
        </p:nvSpPr>
        <p:spPr>
          <a:xfrm>
            <a:off x="1047950" y="3599240"/>
            <a:ext cx="14631924" cy="5976842"/>
          </a:xfrm>
          <a:custGeom>
            <a:rect b="b" l="l" r="r" t="t"/>
            <a:pathLst>
              <a:path extrusionOk="0" h="7969123" w="19509232">
                <a:moveTo>
                  <a:pt x="0" y="0"/>
                </a:moveTo>
                <a:lnTo>
                  <a:pt x="19509232" y="0"/>
                </a:lnTo>
                <a:lnTo>
                  <a:pt x="19509232" y="7969123"/>
                </a:lnTo>
                <a:lnTo>
                  <a:pt x="0" y="79691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-1" r="-1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9"/>
          <p:cNvSpPr/>
          <p:nvPr/>
        </p:nvSpPr>
        <p:spPr>
          <a:xfrm>
            <a:off x="0" y="0"/>
            <a:ext cx="18301811" cy="10295001"/>
          </a:xfrm>
          <a:custGeom>
            <a:rect b="b" l="l" r="r" t="t"/>
            <a:pathLst>
              <a:path extrusionOk="0" h="13726668" w="24402414">
                <a:moveTo>
                  <a:pt x="0" y="0"/>
                </a:moveTo>
                <a:lnTo>
                  <a:pt x="24402414" y="0"/>
                </a:lnTo>
                <a:lnTo>
                  <a:pt x="24402414" y="13726668"/>
                </a:lnTo>
                <a:lnTo>
                  <a:pt x="0" y="13726668"/>
                </a:lnTo>
                <a:close/>
              </a:path>
            </a:pathLst>
          </a:custGeom>
          <a:solidFill>
            <a:srgbClr val="181A24"/>
          </a:solidFill>
          <a:ln>
            <a:noFill/>
          </a:ln>
        </p:spPr>
      </p:sp>
      <p:sp>
        <p:nvSpPr>
          <p:cNvPr id="303" name="Google Shape;303;p19"/>
          <p:cNvSpPr/>
          <p:nvPr/>
        </p:nvSpPr>
        <p:spPr>
          <a:xfrm>
            <a:off x="0" y="0"/>
            <a:ext cx="18301811" cy="10295001"/>
          </a:xfrm>
          <a:custGeom>
            <a:rect b="b" l="l" r="r" t="t"/>
            <a:pathLst>
              <a:path extrusionOk="0" h="13726668" w="24402414">
                <a:moveTo>
                  <a:pt x="0" y="0"/>
                </a:moveTo>
                <a:lnTo>
                  <a:pt x="24402414" y="0"/>
                </a:lnTo>
                <a:lnTo>
                  <a:pt x="24402414" y="13726668"/>
                </a:lnTo>
                <a:lnTo>
                  <a:pt x="0" y="13726668"/>
                </a:lnTo>
                <a:close/>
              </a:path>
            </a:pathLst>
          </a:custGeom>
          <a:solidFill>
            <a:srgbClr val="252833"/>
          </a:solidFill>
          <a:ln>
            <a:noFill/>
          </a:ln>
        </p:spPr>
      </p:sp>
      <p:sp>
        <p:nvSpPr>
          <p:cNvPr id="304" name="Google Shape;304;p19"/>
          <p:cNvSpPr txBox="1"/>
          <p:nvPr/>
        </p:nvSpPr>
        <p:spPr>
          <a:xfrm>
            <a:off x="1047950" y="987066"/>
            <a:ext cx="16205949" cy="673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7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53" u="none" cap="none" strike="noStrike">
                <a:solidFill>
                  <a:srgbClr val="F98AC7"/>
                </a:solidFill>
                <a:latin typeface="Lora"/>
                <a:ea typeface="Lora"/>
                <a:cs typeface="Lora"/>
                <a:sym typeface="Lora"/>
              </a:rPr>
              <a:t>PROBLEM STATEMENT &amp; OBJECTIVES</a:t>
            </a:r>
            <a:endParaRPr/>
          </a:p>
        </p:txBody>
      </p:sp>
      <p:sp>
        <p:nvSpPr>
          <p:cNvPr id="305" name="Google Shape;305;p19"/>
          <p:cNvSpPr txBox="1"/>
          <p:nvPr/>
        </p:nvSpPr>
        <p:spPr>
          <a:xfrm>
            <a:off x="1047950" y="2124704"/>
            <a:ext cx="8166278" cy="3369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82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26" u="none" cap="none" strike="noStrike">
                <a:solidFill>
                  <a:srgbClr val="F98AC7"/>
                </a:solidFill>
                <a:latin typeface="Lora"/>
                <a:ea typeface="Lora"/>
                <a:cs typeface="Lora"/>
                <a:sym typeface="Lora"/>
              </a:rPr>
              <a:t>Challenges of Manual Management</a:t>
            </a:r>
            <a:endParaRPr/>
          </a:p>
        </p:txBody>
      </p:sp>
      <p:sp>
        <p:nvSpPr>
          <p:cNvPr descr="preencoded.png" id="306" name="Google Shape;306;p19"/>
          <p:cNvSpPr/>
          <p:nvPr/>
        </p:nvSpPr>
        <p:spPr>
          <a:xfrm>
            <a:off x="1047950" y="2674449"/>
            <a:ext cx="3988479" cy="2007622"/>
          </a:xfrm>
          <a:custGeom>
            <a:rect b="b" l="l" r="r" t="t"/>
            <a:pathLst>
              <a:path extrusionOk="0" h="2007622" w="3988479">
                <a:moveTo>
                  <a:pt x="0" y="0"/>
                </a:moveTo>
                <a:lnTo>
                  <a:pt x="3988479" y="0"/>
                </a:lnTo>
                <a:lnTo>
                  <a:pt x="3988479" y="2007622"/>
                </a:lnTo>
                <a:lnTo>
                  <a:pt x="0" y="200762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22" l="0" r="0" t="-22"/>
            </a:stretch>
          </a:blipFill>
          <a:ln>
            <a:noFill/>
          </a:ln>
        </p:spPr>
      </p:sp>
      <p:sp>
        <p:nvSpPr>
          <p:cNvPr id="307" name="Google Shape;307;p19"/>
          <p:cNvSpPr txBox="1"/>
          <p:nvPr/>
        </p:nvSpPr>
        <p:spPr>
          <a:xfrm>
            <a:off x="1413596" y="2916193"/>
            <a:ext cx="3371574" cy="3369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82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26" u="none" cap="none" strike="noStrike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Data Redundancy</a:t>
            </a:r>
            <a:endParaRPr/>
          </a:p>
        </p:txBody>
      </p:sp>
      <p:sp>
        <p:nvSpPr>
          <p:cNvPr id="308" name="Google Shape;308;p19"/>
          <p:cNvSpPr txBox="1"/>
          <p:nvPr/>
        </p:nvSpPr>
        <p:spPr>
          <a:xfrm>
            <a:off x="1413596" y="3394777"/>
            <a:ext cx="3371574" cy="1036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7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26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Duplicate information stored across multiple locations leads to bloated, unmanageable records.</a:t>
            </a:r>
            <a:endParaRPr/>
          </a:p>
        </p:txBody>
      </p:sp>
      <p:sp>
        <p:nvSpPr>
          <p:cNvPr descr="preencoded.png" id="309" name="Google Shape;309;p19"/>
          <p:cNvSpPr/>
          <p:nvPr/>
        </p:nvSpPr>
        <p:spPr>
          <a:xfrm>
            <a:off x="5225739" y="2674449"/>
            <a:ext cx="3988479" cy="2007622"/>
          </a:xfrm>
          <a:custGeom>
            <a:rect b="b" l="l" r="r" t="t"/>
            <a:pathLst>
              <a:path extrusionOk="0" h="2007622" w="3988479">
                <a:moveTo>
                  <a:pt x="0" y="0"/>
                </a:moveTo>
                <a:lnTo>
                  <a:pt x="3988479" y="0"/>
                </a:lnTo>
                <a:lnTo>
                  <a:pt x="3988479" y="2007622"/>
                </a:lnTo>
                <a:lnTo>
                  <a:pt x="0" y="200762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22" l="0" r="0" t="-22"/>
            </a:stretch>
          </a:blipFill>
          <a:ln>
            <a:noFill/>
          </a:ln>
        </p:spPr>
      </p:sp>
      <p:sp>
        <p:nvSpPr>
          <p:cNvPr id="310" name="Google Shape;310;p19"/>
          <p:cNvSpPr txBox="1"/>
          <p:nvPr/>
        </p:nvSpPr>
        <p:spPr>
          <a:xfrm>
            <a:off x="5591385" y="2916193"/>
            <a:ext cx="3371574" cy="3369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82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26" u="none" cap="none" strike="noStrike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Data Inconsistency</a:t>
            </a:r>
            <a:endParaRPr/>
          </a:p>
        </p:txBody>
      </p:sp>
      <p:sp>
        <p:nvSpPr>
          <p:cNvPr id="311" name="Google Shape;311;p19"/>
          <p:cNvSpPr txBox="1"/>
          <p:nvPr/>
        </p:nvSpPr>
        <p:spPr>
          <a:xfrm>
            <a:off x="5591385" y="3394777"/>
            <a:ext cx="3371574" cy="1036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7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26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Conflicting or outdated information appears in different records, undermining reliability.</a:t>
            </a:r>
            <a:endParaRPr/>
          </a:p>
        </p:txBody>
      </p:sp>
      <p:sp>
        <p:nvSpPr>
          <p:cNvPr descr="preencoded.png" id="312" name="Google Shape;312;p19"/>
          <p:cNvSpPr/>
          <p:nvPr/>
        </p:nvSpPr>
        <p:spPr>
          <a:xfrm>
            <a:off x="1047950" y="4871380"/>
            <a:ext cx="3988479" cy="2007622"/>
          </a:xfrm>
          <a:custGeom>
            <a:rect b="b" l="l" r="r" t="t"/>
            <a:pathLst>
              <a:path extrusionOk="0" h="2007622" w="3988479">
                <a:moveTo>
                  <a:pt x="0" y="0"/>
                </a:moveTo>
                <a:lnTo>
                  <a:pt x="3988479" y="0"/>
                </a:lnTo>
                <a:lnTo>
                  <a:pt x="3988479" y="2007623"/>
                </a:lnTo>
                <a:lnTo>
                  <a:pt x="0" y="20076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22" l="0" r="0" t="-22"/>
            </a:stretch>
          </a:blipFill>
          <a:ln>
            <a:noFill/>
          </a:ln>
        </p:spPr>
      </p:sp>
      <p:sp>
        <p:nvSpPr>
          <p:cNvPr id="313" name="Google Shape;313;p19"/>
          <p:cNvSpPr txBox="1"/>
          <p:nvPr/>
        </p:nvSpPr>
        <p:spPr>
          <a:xfrm>
            <a:off x="1413596" y="5113125"/>
            <a:ext cx="3371574" cy="3369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82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26" u="none" cap="none" strike="noStrike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Difficulty Tracking Orders</a:t>
            </a:r>
            <a:endParaRPr/>
          </a:p>
        </p:txBody>
      </p:sp>
      <p:sp>
        <p:nvSpPr>
          <p:cNvPr id="314" name="Google Shape;314;p19"/>
          <p:cNvSpPr txBox="1"/>
          <p:nvPr/>
        </p:nvSpPr>
        <p:spPr>
          <a:xfrm>
            <a:off x="1413596" y="5591708"/>
            <a:ext cx="3371574" cy="1036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7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26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Hard to monitor order status and history without a centralized system.</a:t>
            </a:r>
            <a:endParaRPr/>
          </a:p>
        </p:txBody>
      </p:sp>
      <p:sp>
        <p:nvSpPr>
          <p:cNvPr descr="preencoded.png" id="315" name="Google Shape;315;p19"/>
          <p:cNvSpPr/>
          <p:nvPr/>
        </p:nvSpPr>
        <p:spPr>
          <a:xfrm>
            <a:off x="5225739" y="4871380"/>
            <a:ext cx="3988479" cy="2007622"/>
          </a:xfrm>
          <a:custGeom>
            <a:rect b="b" l="l" r="r" t="t"/>
            <a:pathLst>
              <a:path extrusionOk="0" h="2007622" w="3988479">
                <a:moveTo>
                  <a:pt x="0" y="0"/>
                </a:moveTo>
                <a:lnTo>
                  <a:pt x="3988479" y="0"/>
                </a:lnTo>
                <a:lnTo>
                  <a:pt x="3988479" y="2007623"/>
                </a:lnTo>
                <a:lnTo>
                  <a:pt x="0" y="20076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22" l="0" r="0" t="-22"/>
            </a:stretch>
          </a:blipFill>
          <a:ln>
            <a:noFill/>
          </a:ln>
        </p:spPr>
      </p:sp>
      <p:sp>
        <p:nvSpPr>
          <p:cNvPr id="316" name="Google Shape;316;p19"/>
          <p:cNvSpPr txBox="1"/>
          <p:nvPr/>
        </p:nvSpPr>
        <p:spPr>
          <a:xfrm>
            <a:off x="5591385" y="5113125"/>
            <a:ext cx="3371574" cy="3369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82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26" u="none" cap="none" strike="noStrike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Payment Management</a:t>
            </a:r>
            <a:endParaRPr/>
          </a:p>
        </p:txBody>
      </p:sp>
      <p:sp>
        <p:nvSpPr>
          <p:cNvPr id="317" name="Google Shape;317;p19"/>
          <p:cNvSpPr txBox="1"/>
          <p:nvPr/>
        </p:nvSpPr>
        <p:spPr>
          <a:xfrm>
            <a:off x="5591385" y="5591708"/>
            <a:ext cx="3371574" cy="1036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7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26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Complex payment tracking and reconciliation becomes error-prone manually.</a:t>
            </a:r>
            <a:endParaRPr/>
          </a:p>
        </p:txBody>
      </p:sp>
      <p:sp>
        <p:nvSpPr>
          <p:cNvPr descr="preencoded.png" id="318" name="Google Shape;318;p19"/>
          <p:cNvSpPr/>
          <p:nvPr/>
        </p:nvSpPr>
        <p:spPr>
          <a:xfrm>
            <a:off x="1047950" y="7068312"/>
            <a:ext cx="3988479" cy="2007622"/>
          </a:xfrm>
          <a:custGeom>
            <a:rect b="b" l="l" r="r" t="t"/>
            <a:pathLst>
              <a:path extrusionOk="0" h="2007622" w="3988479">
                <a:moveTo>
                  <a:pt x="0" y="0"/>
                </a:moveTo>
                <a:lnTo>
                  <a:pt x="3988479" y="0"/>
                </a:lnTo>
                <a:lnTo>
                  <a:pt x="3988479" y="2007622"/>
                </a:lnTo>
                <a:lnTo>
                  <a:pt x="0" y="200762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22" l="0" r="0" t="-22"/>
            </a:stretch>
          </a:blipFill>
          <a:ln>
            <a:noFill/>
          </a:ln>
        </p:spPr>
      </p:sp>
      <p:sp>
        <p:nvSpPr>
          <p:cNvPr id="319" name="Google Shape;319;p19"/>
          <p:cNvSpPr txBox="1"/>
          <p:nvPr/>
        </p:nvSpPr>
        <p:spPr>
          <a:xfrm>
            <a:off x="1413596" y="7310057"/>
            <a:ext cx="3371574" cy="3369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82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26" u="none" cap="none" strike="noStrike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Slow Data Retrieval</a:t>
            </a:r>
            <a:endParaRPr/>
          </a:p>
        </p:txBody>
      </p:sp>
      <p:sp>
        <p:nvSpPr>
          <p:cNvPr id="320" name="Google Shape;320;p19"/>
          <p:cNvSpPr txBox="1"/>
          <p:nvPr/>
        </p:nvSpPr>
        <p:spPr>
          <a:xfrm>
            <a:off x="1413596" y="7788640"/>
            <a:ext cx="3371574" cy="1036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7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26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Time-consuming manual searches and lookups reduce operational efficiency.</a:t>
            </a:r>
            <a:endParaRPr/>
          </a:p>
        </p:txBody>
      </p:sp>
      <p:sp>
        <p:nvSpPr>
          <p:cNvPr id="321" name="Google Shape;321;p19"/>
          <p:cNvSpPr/>
          <p:nvPr/>
        </p:nvSpPr>
        <p:spPr>
          <a:xfrm>
            <a:off x="9606677" y="1944919"/>
            <a:ext cx="7817073" cy="7343871"/>
          </a:xfrm>
          <a:custGeom>
            <a:rect b="b" l="l" r="r" t="t"/>
            <a:pathLst>
              <a:path extrusionOk="0" h="9791827" w="10422763">
                <a:moveTo>
                  <a:pt x="0" y="44577"/>
                </a:moveTo>
                <a:cubicBezTo>
                  <a:pt x="0" y="19939"/>
                  <a:pt x="19939" y="0"/>
                  <a:pt x="44577" y="0"/>
                </a:cubicBezTo>
                <a:lnTo>
                  <a:pt x="10378186" y="0"/>
                </a:lnTo>
                <a:cubicBezTo>
                  <a:pt x="10402824" y="0"/>
                  <a:pt x="10422763" y="19939"/>
                  <a:pt x="10422763" y="44577"/>
                </a:cubicBezTo>
                <a:lnTo>
                  <a:pt x="10422763" y="9747250"/>
                </a:lnTo>
                <a:cubicBezTo>
                  <a:pt x="10422763" y="9771888"/>
                  <a:pt x="10402824" y="9791827"/>
                  <a:pt x="10378186" y="9791827"/>
                </a:cubicBezTo>
                <a:lnTo>
                  <a:pt x="44577" y="9791827"/>
                </a:lnTo>
                <a:cubicBezTo>
                  <a:pt x="19939" y="9791827"/>
                  <a:pt x="0" y="9771888"/>
                  <a:pt x="0" y="9747250"/>
                </a:cubicBezTo>
                <a:close/>
              </a:path>
            </a:pathLst>
          </a:custGeom>
          <a:solidFill>
            <a:srgbClr val="1B1B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9"/>
          <p:cNvSpPr txBox="1"/>
          <p:nvPr/>
        </p:nvSpPr>
        <p:spPr>
          <a:xfrm>
            <a:off x="9829343" y="2124704"/>
            <a:ext cx="7371674" cy="3369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82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26" u="none" cap="none" strike="noStrike">
                <a:solidFill>
                  <a:srgbClr val="F98AC7"/>
                </a:solidFill>
                <a:latin typeface="Lora"/>
                <a:ea typeface="Lora"/>
                <a:cs typeface="Lora"/>
                <a:sym typeface="Lora"/>
              </a:rPr>
              <a:t>Project Objectives</a:t>
            </a:r>
            <a:endParaRPr/>
          </a:p>
        </p:txBody>
      </p:sp>
      <p:sp>
        <p:nvSpPr>
          <p:cNvPr id="323" name="Google Shape;323;p19"/>
          <p:cNvSpPr txBox="1"/>
          <p:nvPr/>
        </p:nvSpPr>
        <p:spPr>
          <a:xfrm>
            <a:off x="9829343" y="2603287"/>
            <a:ext cx="7371674" cy="38750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7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26" u="none" cap="none" strike="noStrike">
                <a:solidFill>
                  <a:srgbClr val="D6B36A"/>
                </a:solidFill>
                <a:latin typeface="Source Sans 3"/>
                <a:ea typeface="Source Sans 3"/>
                <a:cs typeface="Source Sans 3"/>
                <a:sym typeface="Source Sans 3"/>
              </a:rPr>
              <a:t>•</a:t>
            </a:r>
            <a:r>
              <a:rPr b="0" i="0" lang="en-US" sz="1726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 Store customer information securely and efficiently</a:t>
            </a:r>
            <a:endParaRPr/>
          </a:p>
          <a:p>
            <a:pPr indent="0" lvl="0" marL="0" marR="0" rtl="0" algn="l">
              <a:lnSpc>
                <a:spcPct val="147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26" u="none" cap="none" strike="noStrike">
                <a:solidFill>
                  <a:srgbClr val="D6B36A"/>
                </a:solidFill>
                <a:latin typeface="Source Sans 3"/>
                <a:ea typeface="Source Sans 3"/>
                <a:cs typeface="Source Sans 3"/>
                <a:sym typeface="Source Sans 3"/>
              </a:rPr>
              <a:t>•</a:t>
            </a:r>
            <a:r>
              <a:rPr b="0" i="0" lang="en-US" sz="1726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 Store restaurant information and manage multiple restaurants</a:t>
            </a:r>
            <a:endParaRPr/>
          </a:p>
          <a:p>
            <a:pPr indent="0" lvl="0" marL="0" marR="0" rtl="0" algn="l">
              <a:lnSpc>
                <a:spcPct val="147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26" u="none" cap="none" strike="noStrike">
                <a:solidFill>
                  <a:srgbClr val="D6B36A"/>
                </a:solidFill>
                <a:latin typeface="Source Sans 3"/>
                <a:ea typeface="Source Sans 3"/>
                <a:cs typeface="Source Sans 3"/>
                <a:sym typeface="Source Sans 3"/>
              </a:rPr>
              <a:t>•</a:t>
            </a:r>
            <a:r>
              <a:rPr b="0" i="0" lang="en-US" sz="1726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 Manage food items and their details</a:t>
            </a:r>
            <a:endParaRPr/>
          </a:p>
          <a:p>
            <a:pPr indent="0" lvl="0" marL="0" marR="0" rtl="0" algn="l">
              <a:lnSpc>
                <a:spcPct val="147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26" u="none" cap="none" strike="noStrike">
                <a:solidFill>
                  <a:srgbClr val="D6B36A"/>
                </a:solidFill>
                <a:latin typeface="Source Sans 3"/>
                <a:ea typeface="Source Sans 3"/>
                <a:cs typeface="Source Sans 3"/>
                <a:sym typeface="Source Sans 3"/>
              </a:rPr>
              <a:t>•</a:t>
            </a:r>
            <a:r>
              <a:rPr b="0" i="0" lang="en-US" sz="1726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 Manage orders and order details</a:t>
            </a:r>
            <a:endParaRPr/>
          </a:p>
          <a:p>
            <a:pPr indent="0" lvl="0" marL="0" marR="0" rtl="0" algn="l">
              <a:lnSpc>
                <a:spcPct val="147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26" u="none" cap="none" strike="noStrike">
                <a:solidFill>
                  <a:srgbClr val="D6B36A"/>
                </a:solidFill>
                <a:latin typeface="Source Sans 3"/>
                <a:ea typeface="Source Sans 3"/>
                <a:cs typeface="Source Sans 3"/>
                <a:sym typeface="Source Sans 3"/>
              </a:rPr>
              <a:t>•</a:t>
            </a:r>
            <a:r>
              <a:rPr b="0" i="0" lang="en-US" sz="1726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 Manage payment information and transaction records</a:t>
            </a:r>
            <a:endParaRPr/>
          </a:p>
          <a:p>
            <a:pPr indent="0" lvl="0" marL="0" marR="0" rtl="0" algn="l">
              <a:lnSpc>
                <a:spcPct val="147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26" u="none" cap="none" strike="noStrike">
                <a:solidFill>
                  <a:srgbClr val="D6B36A"/>
                </a:solidFill>
                <a:latin typeface="Source Sans 3"/>
                <a:ea typeface="Source Sans 3"/>
                <a:cs typeface="Source Sans 3"/>
                <a:sym typeface="Source Sans 3"/>
              </a:rPr>
              <a:t>•</a:t>
            </a:r>
            <a:r>
              <a:rPr b="0" i="0" lang="en-US" sz="1726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 Establish Primary Key–Foreign Key relationships</a:t>
            </a:r>
            <a:endParaRPr/>
          </a:p>
          <a:p>
            <a:pPr indent="0" lvl="0" marL="0" marR="0" rtl="0" algn="l">
              <a:lnSpc>
                <a:spcPct val="147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26" u="none" cap="none" strike="noStrike">
                <a:solidFill>
                  <a:srgbClr val="D6B36A"/>
                </a:solidFill>
                <a:latin typeface="Source Sans 3"/>
                <a:ea typeface="Source Sans 3"/>
                <a:cs typeface="Source Sans 3"/>
                <a:sym typeface="Source Sans 3"/>
              </a:rPr>
              <a:t>•</a:t>
            </a:r>
            <a:r>
              <a:rPr b="0" i="0" lang="en-US" sz="1726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 Maintain data integrity and consistency</a:t>
            </a:r>
            <a:endParaRPr/>
          </a:p>
          <a:p>
            <a:pPr indent="0" lvl="0" marL="0" marR="0" rtl="0" algn="l">
              <a:lnSpc>
                <a:spcPct val="147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26" u="none" cap="none" strike="noStrike">
                <a:solidFill>
                  <a:srgbClr val="D6B36A"/>
                </a:solidFill>
                <a:latin typeface="Source Sans 3"/>
                <a:ea typeface="Source Sans 3"/>
                <a:cs typeface="Source Sans 3"/>
                <a:sym typeface="Source Sans 3"/>
              </a:rPr>
              <a:t>•</a:t>
            </a:r>
            <a:r>
              <a:rPr b="0" i="0" lang="en-US" sz="1726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 Retrieve information efficiently using SQL queries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20"/>
          <p:cNvSpPr/>
          <p:nvPr/>
        </p:nvSpPr>
        <p:spPr>
          <a:xfrm>
            <a:off x="0" y="0"/>
            <a:ext cx="18301811" cy="10295001"/>
          </a:xfrm>
          <a:custGeom>
            <a:rect b="b" l="l" r="r" t="t"/>
            <a:pathLst>
              <a:path extrusionOk="0" h="13726668" w="24402414">
                <a:moveTo>
                  <a:pt x="0" y="0"/>
                </a:moveTo>
                <a:lnTo>
                  <a:pt x="24402414" y="0"/>
                </a:lnTo>
                <a:lnTo>
                  <a:pt x="24402414" y="13726668"/>
                </a:lnTo>
                <a:lnTo>
                  <a:pt x="0" y="13726668"/>
                </a:lnTo>
                <a:close/>
              </a:path>
            </a:pathLst>
          </a:custGeom>
          <a:solidFill>
            <a:srgbClr val="181A24"/>
          </a:solidFill>
          <a:ln>
            <a:noFill/>
          </a:ln>
        </p:spPr>
      </p:sp>
      <p:sp>
        <p:nvSpPr>
          <p:cNvPr id="333" name="Google Shape;333;p20"/>
          <p:cNvSpPr/>
          <p:nvPr/>
        </p:nvSpPr>
        <p:spPr>
          <a:xfrm>
            <a:off x="0" y="0"/>
            <a:ext cx="18301811" cy="10295001"/>
          </a:xfrm>
          <a:custGeom>
            <a:rect b="b" l="l" r="r" t="t"/>
            <a:pathLst>
              <a:path extrusionOk="0" h="13726668" w="24402414">
                <a:moveTo>
                  <a:pt x="0" y="0"/>
                </a:moveTo>
                <a:lnTo>
                  <a:pt x="24402414" y="0"/>
                </a:lnTo>
                <a:lnTo>
                  <a:pt x="24402414" y="13726668"/>
                </a:lnTo>
                <a:lnTo>
                  <a:pt x="0" y="13726668"/>
                </a:lnTo>
                <a:close/>
              </a:path>
            </a:pathLst>
          </a:custGeom>
          <a:solidFill>
            <a:srgbClr val="252833"/>
          </a:solidFill>
          <a:ln>
            <a:noFill/>
          </a:ln>
        </p:spPr>
      </p:sp>
      <p:sp>
        <p:nvSpPr>
          <p:cNvPr id="334" name="Google Shape;334;p20"/>
          <p:cNvSpPr txBox="1"/>
          <p:nvPr/>
        </p:nvSpPr>
        <p:spPr>
          <a:xfrm>
            <a:off x="1047950" y="936431"/>
            <a:ext cx="16205949" cy="7511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8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578" u="none" cap="none" strike="noStrike">
                <a:solidFill>
                  <a:srgbClr val="F98AC7"/>
                </a:solidFill>
                <a:latin typeface="Lora"/>
                <a:ea typeface="Lora"/>
                <a:cs typeface="Lora"/>
                <a:sym typeface="Lora"/>
              </a:rPr>
              <a:t>SCOPE OF THE PROJECT</a:t>
            </a:r>
            <a:endParaRPr/>
          </a:p>
        </p:txBody>
      </p:sp>
      <p:sp>
        <p:nvSpPr>
          <p:cNvPr id="335" name="Google Shape;335;p20"/>
          <p:cNvSpPr txBox="1"/>
          <p:nvPr/>
        </p:nvSpPr>
        <p:spPr>
          <a:xfrm>
            <a:off x="1047950" y="2084241"/>
            <a:ext cx="17121035" cy="4643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60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1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Modern food-tech platform scope covering customer, restaurant, menu, order, payment, and reporting workflows.</a:t>
            </a:r>
            <a:endParaRPr/>
          </a:p>
        </p:txBody>
      </p:sp>
      <p:sp>
        <p:nvSpPr>
          <p:cNvPr descr="preencoded.png" id="336" name="Google Shape;336;p20"/>
          <p:cNvSpPr/>
          <p:nvPr/>
        </p:nvSpPr>
        <p:spPr>
          <a:xfrm>
            <a:off x="1047950" y="2814609"/>
            <a:ext cx="3874094" cy="3327273"/>
          </a:xfrm>
          <a:custGeom>
            <a:rect b="b" l="l" r="r" t="t"/>
            <a:pathLst>
              <a:path extrusionOk="0" h="3327273" w="3874094">
                <a:moveTo>
                  <a:pt x="0" y="0"/>
                </a:moveTo>
                <a:lnTo>
                  <a:pt x="3874094" y="0"/>
                </a:lnTo>
                <a:lnTo>
                  <a:pt x="3874094" y="3327273"/>
                </a:lnTo>
                <a:lnTo>
                  <a:pt x="0" y="332727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63" l="0" r="0" t="-64"/>
            </a:stretch>
          </a:blipFill>
          <a:ln>
            <a:noFill/>
          </a:ln>
        </p:spPr>
      </p:sp>
      <p:sp>
        <p:nvSpPr>
          <p:cNvPr descr="preencoded.png" id="337" name="Google Shape;337;p20"/>
          <p:cNvSpPr/>
          <p:nvPr/>
        </p:nvSpPr>
        <p:spPr>
          <a:xfrm>
            <a:off x="2798302" y="3029826"/>
            <a:ext cx="373247" cy="373256"/>
          </a:xfrm>
          <a:custGeom>
            <a:rect b="b" l="l" r="r" t="t"/>
            <a:pathLst>
              <a:path extrusionOk="0" h="373256" w="373247">
                <a:moveTo>
                  <a:pt x="0" y="0"/>
                </a:moveTo>
                <a:lnTo>
                  <a:pt x="373247" y="0"/>
                </a:lnTo>
                <a:lnTo>
                  <a:pt x="373247" y="373256"/>
                </a:lnTo>
                <a:lnTo>
                  <a:pt x="0" y="37325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4996" l="0" r="0" t="-4999"/>
            </a:stretch>
          </a:blipFill>
          <a:ln>
            <a:noFill/>
          </a:ln>
        </p:spPr>
      </p:sp>
      <p:sp>
        <p:nvSpPr>
          <p:cNvPr id="338" name="Google Shape;338;p20"/>
          <p:cNvSpPr txBox="1"/>
          <p:nvPr/>
        </p:nvSpPr>
        <p:spPr>
          <a:xfrm>
            <a:off x="1325423" y="3816706"/>
            <a:ext cx="3319148" cy="3754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8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1" u="none" cap="none" strike="noStrike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Customer Management</a:t>
            </a:r>
            <a:endParaRPr/>
          </a:p>
        </p:txBody>
      </p:sp>
      <p:sp>
        <p:nvSpPr>
          <p:cNvPr id="339" name="Google Shape;339;p20"/>
          <p:cNvSpPr txBox="1"/>
          <p:nvPr/>
        </p:nvSpPr>
        <p:spPr>
          <a:xfrm>
            <a:off x="1325423" y="4257789"/>
            <a:ext cx="3319148" cy="1240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60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1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Customer registration and profile management with secure data storage.</a:t>
            </a:r>
            <a:endParaRPr/>
          </a:p>
        </p:txBody>
      </p:sp>
      <p:sp>
        <p:nvSpPr>
          <p:cNvPr descr="preencoded.png" id="340" name="Google Shape;340;p20"/>
          <p:cNvSpPr/>
          <p:nvPr/>
        </p:nvSpPr>
        <p:spPr>
          <a:xfrm>
            <a:off x="5158416" y="2814609"/>
            <a:ext cx="3874246" cy="3327273"/>
          </a:xfrm>
          <a:custGeom>
            <a:rect b="b" l="l" r="r" t="t"/>
            <a:pathLst>
              <a:path extrusionOk="0" h="3327273" w="3874246">
                <a:moveTo>
                  <a:pt x="0" y="0"/>
                </a:moveTo>
                <a:lnTo>
                  <a:pt x="3874246" y="0"/>
                </a:lnTo>
                <a:lnTo>
                  <a:pt x="3874246" y="3327273"/>
                </a:lnTo>
                <a:lnTo>
                  <a:pt x="0" y="332727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65" l="0" r="0" t="-66"/>
            </a:stretch>
          </a:blipFill>
          <a:ln>
            <a:noFill/>
          </a:ln>
        </p:spPr>
      </p:sp>
      <p:sp>
        <p:nvSpPr>
          <p:cNvPr descr="preencoded.png" id="341" name="Google Shape;341;p20"/>
          <p:cNvSpPr/>
          <p:nvPr/>
        </p:nvSpPr>
        <p:spPr>
          <a:xfrm>
            <a:off x="6908911" y="3029826"/>
            <a:ext cx="373247" cy="373256"/>
          </a:xfrm>
          <a:custGeom>
            <a:rect b="b" l="l" r="r" t="t"/>
            <a:pathLst>
              <a:path extrusionOk="0" h="373256" w="373247">
                <a:moveTo>
                  <a:pt x="0" y="0"/>
                </a:moveTo>
                <a:lnTo>
                  <a:pt x="373247" y="0"/>
                </a:lnTo>
                <a:lnTo>
                  <a:pt x="373247" y="373256"/>
                </a:lnTo>
                <a:lnTo>
                  <a:pt x="0" y="37325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-13752" r="-13748" t="0"/>
            </a:stretch>
          </a:blipFill>
          <a:ln>
            <a:noFill/>
          </a:ln>
        </p:spPr>
      </p:sp>
      <p:sp>
        <p:nvSpPr>
          <p:cNvPr id="342" name="Google Shape;342;p20"/>
          <p:cNvSpPr txBox="1"/>
          <p:nvPr/>
        </p:nvSpPr>
        <p:spPr>
          <a:xfrm>
            <a:off x="5435889" y="3816706"/>
            <a:ext cx="3319291" cy="7414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8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1" u="none" cap="none" strike="noStrike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Restaurant Management</a:t>
            </a:r>
            <a:endParaRPr/>
          </a:p>
        </p:txBody>
      </p:sp>
      <p:sp>
        <p:nvSpPr>
          <p:cNvPr id="343" name="Google Shape;343;p20"/>
          <p:cNvSpPr txBox="1"/>
          <p:nvPr/>
        </p:nvSpPr>
        <p:spPr>
          <a:xfrm>
            <a:off x="5435889" y="4623740"/>
            <a:ext cx="3319291" cy="1240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60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1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Restaurant information storage and multi-restaurant administration.</a:t>
            </a:r>
            <a:endParaRPr/>
          </a:p>
        </p:txBody>
      </p:sp>
      <p:sp>
        <p:nvSpPr>
          <p:cNvPr descr="preencoded.png" id="344" name="Google Shape;344;p20"/>
          <p:cNvSpPr/>
          <p:nvPr/>
        </p:nvSpPr>
        <p:spPr>
          <a:xfrm>
            <a:off x="9269035" y="2814609"/>
            <a:ext cx="3874246" cy="3327273"/>
          </a:xfrm>
          <a:custGeom>
            <a:rect b="b" l="l" r="r" t="t"/>
            <a:pathLst>
              <a:path extrusionOk="0" h="3327273" w="3874246">
                <a:moveTo>
                  <a:pt x="0" y="0"/>
                </a:moveTo>
                <a:lnTo>
                  <a:pt x="3874246" y="0"/>
                </a:lnTo>
                <a:lnTo>
                  <a:pt x="3874246" y="3327273"/>
                </a:lnTo>
                <a:lnTo>
                  <a:pt x="0" y="332727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65" l="0" r="0" t="-66"/>
            </a:stretch>
          </a:blipFill>
          <a:ln>
            <a:noFill/>
          </a:ln>
        </p:spPr>
      </p:sp>
      <p:sp>
        <p:nvSpPr>
          <p:cNvPr descr="preencoded.png" id="345" name="Google Shape;345;p20"/>
          <p:cNvSpPr/>
          <p:nvPr/>
        </p:nvSpPr>
        <p:spPr>
          <a:xfrm>
            <a:off x="11019530" y="3029826"/>
            <a:ext cx="373247" cy="373256"/>
          </a:xfrm>
          <a:custGeom>
            <a:rect b="b" l="l" r="r" t="t"/>
            <a:pathLst>
              <a:path extrusionOk="0" h="373256" w="373247">
                <a:moveTo>
                  <a:pt x="0" y="0"/>
                </a:moveTo>
                <a:lnTo>
                  <a:pt x="373246" y="0"/>
                </a:lnTo>
                <a:lnTo>
                  <a:pt x="373246" y="373256"/>
                </a:lnTo>
                <a:lnTo>
                  <a:pt x="0" y="37325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-3748" l="0" r="0" t="-3748"/>
            </a:stretch>
          </a:blipFill>
          <a:ln>
            <a:noFill/>
          </a:ln>
        </p:spPr>
      </p:sp>
      <p:sp>
        <p:nvSpPr>
          <p:cNvPr id="346" name="Google Shape;346;p20"/>
          <p:cNvSpPr txBox="1"/>
          <p:nvPr/>
        </p:nvSpPr>
        <p:spPr>
          <a:xfrm>
            <a:off x="9546507" y="3816706"/>
            <a:ext cx="3319291" cy="3754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8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1" u="none" cap="none" strike="noStrike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Food Item Management</a:t>
            </a:r>
            <a:endParaRPr/>
          </a:p>
        </p:txBody>
      </p:sp>
      <p:sp>
        <p:nvSpPr>
          <p:cNvPr id="347" name="Google Shape;347;p20"/>
          <p:cNvSpPr txBox="1"/>
          <p:nvPr/>
        </p:nvSpPr>
        <p:spPr>
          <a:xfrm>
            <a:off x="9546507" y="4257789"/>
            <a:ext cx="3319291" cy="8524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60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1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Food-item management with categories and pricing details.</a:t>
            </a:r>
            <a:endParaRPr/>
          </a:p>
        </p:txBody>
      </p:sp>
      <p:sp>
        <p:nvSpPr>
          <p:cNvPr descr="preencoded.png" id="348" name="Google Shape;348;p20"/>
          <p:cNvSpPr/>
          <p:nvPr/>
        </p:nvSpPr>
        <p:spPr>
          <a:xfrm>
            <a:off x="13379644" y="2814609"/>
            <a:ext cx="3874246" cy="3327273"/>
          </a:xfrm>
          <a:custGeom>
            <a:rect b="b" l="l" r="r" t="t"/>
            <a:pathLst>
              <a:path extrusionOk="0" h="3327273" w="3874246">
                <a:moveTo>
                  <a:pt x="0" y="0"/>
                </a:moveTo>
                <a:lnTo>
                  <a:pt x="3874246" y="0"/>
                </a:lnTo>
                <a:lnTo>
                  <a:pt x="3874246" y="3327273"/>
                </a:lnTo>
                <a:lnTo>
                  <a:pt x="0" y="332727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65" l="0" r="0" t="-66"/>
            </a:stretch>
          </a:blipFill>
          <a:ln>
            <a:noFill/>
          </a:ln>
        </p:spPr>
      </p:sp>
      <p:sp>
        <p:nvSpPr>
          <p:cNvPr descr="preencoded.png" id="349" name="Google Shape;349;p20"/>
          <p:cNvSpPr/>
          <p:nvPr/>
        </p:nvSpPr>
        <p:spPr>
          <a:xfrm>
            <a:off x="15130148" y="3029826"/>
            <a:ext cx="373247" cy="373256"/>
          </a:xfrm>
          <a:custGeom>
            <a:rect b="b" l="l" r="r" t="t"/>
            <a:pathLst>
              <a:path extrusionOk="0" h="373256" w="373247">
                <a:moveTo>
                  <a:pt x="0" y="0"/>
                </a:moveTo>
                <a:lnTo>
                  <a:pt x="373247" y="0"/>
                </a:lnTo>
                <a:lnTo>
                  <a:pt x="373247" y="373256"/>
                </a:lnTo>
                <a:lnTo>
                  <a:pt x="0" y="37325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-7500" r="-7502" t="0"/>
            </a:stretch>
          </a:blipFill>
          <a:ln>
            <a:noFill/>
          </a:ln>
        </p:spPr>
      </p:sp>
      <p:sp>
        <p:nvSpPr>
          <p:cNvPr id="350" name="Google Shape;350;p20"/>
          <p:cNvSpPr txBox="1"/>
          <p:nvPr/>
        </p:nvSpPr>
        <p:spPr>
          <a:xfrm>
            <a:off x="13657126" y="3816706"/>
            <a:ext cx="3319291" cy="3754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8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1" u="none" cap="none" strike="noStrike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Order Management</a:t>
            </a:r>
            <a:endParaRPr/>
          </a:p>
        </p:txBody>
      </p:sp>
      <p:sp>
        <p:nvSpPr>
          <p:cNvPr id="351" name="Google Shape;351;p20"/>
          <p:cNvSpPr txBox="1"/>
          <p:nvPr/>
        </p:nvSpPr>
        <p:spPr>
          <a:xfrm>
            <a:off x="13657126" y="4257789"/>
            <a:ext cx="3319291" cy="1240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60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1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Order management, tracking, and order-detail management with item-level information.</a:t>
            </a:r>
            <a:endParaRPr/>
          </a:p>
        </p:txBody>
      </p:sp>
      <p:sp>
        <p:nvSpPr>
          <p:cNvPr descr="preencoded.png" id="352" name="Google Shape;352;p20"/>
          <p:cNvSpPr/>
          <p:nvPr/>
        </p:nvSpPr>
        <p:spPr>
          <a:xfrm>
            <a:off x="1047950" y="6378254"/>
            <a:ext cx="3874094" cy="2961313"/>
          </a:xfrm>
          <a:custGeom>
            <a:rect b="b" l="l" r="r" t="t"/>
            <a:pathLst>
              <a:path extrusionOk="0" h="2961313" w="3874094">
                <a:moveTo>
                  <a:pt x="0" y="0"/>
                </a:moveTo>
                <a:lnTo>
                  <a:pt x="3874094" y="0"/>
                </a:lnTo>
                <a:lnTo>
                  <a:pt x="3874094" y="2961313"/>
                </a:lnTo>
                <a:lnTo>
                  <a:pt x="0" y="296131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-16" r="-17" t="0"/>
            </a:stretch>
          </a:blipFill>
          <a:ln>
            <a:noFill/>
          </a:ln>
        </p:spPr>
      </p:sp>
      <p:sp>
        <p:nvSpPr>
          <p:cNvPr descr="preencoded.png" id="353" name="Google Shape;353;p20"/>
          <p:cNvSpPr/>
          <p:nvPr/>
        </p:nvSpPr>
        <p:spPr>
          <a:xfrm>
            <a:off x="2798302" y="6593472"/>
            <a:ext cx="373247" cy="373256"/>
          </a:xfrm>
          <a:custGeom>
            <a:rect b="b" l="l" r="r" t="t"/>
            <a:pathLst>
              <a:path extrusionOk="0" h="373256" w="373247">
                <a:moveTo>
                  <a:pt x="0" y="0"/>
                </a:moveTo>
                <a:lnTo>
                  <a:pt x="373247" y="0"/>
                </a:lnTo>
                <a:lnTo>
                  <a:pt x="373247" y="373256"/>
                </a:lnTo>
                <a:lnTo>
                  <a:pt x="0" y="37325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-17502" r="-17502" t="0"/>
            </a:stretch>
          </a:blipFill>
          <a:ln>
            <a:noFill/>
          </a:ln>
        </p:spPr>
      </p:sp>
      <p:sp>
        <p:nvSpPr>
          <p:cNvPr id="354" name="Google Shape;354;p20"/>
          <p:cNvSpPr txBox="1"/>
          <p:nvPr/>
        </p:nvSpPr>
        <p:spPr>
          <a:xfrm>
            <a:off x="1325423" y="7380351"/>
            <a:ext cx="3319148" cy="3754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8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1" u="none" cap="none" strike="noStrike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Payment Management</a:t>
            </a:r>
            <a:endParaRPr/>
          </a:p>
        </p:txBody>
      </p:sp>
      <p:sp>
        <p:nvSpPr>
          <p:cNvPr id="355" name="Google Shape;355;p20"/>
          <p:cNvSpPr txBox="1"/>
          <p:nvPr/>
        </p:nvSpPr>
        <p:spPr>
          <a:xfrm>
            <a:off x="1325423" y="7821435"/>
            <a:ext cx="3319148" cy="1240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60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1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Payment management and transaction records for all completed orders.</a:t>
            </a:r>
            <a:endParaRPr/>
          </a:p>
        </p:txBody>
      </p:sp>
      <p:sp>
        <p:nvSpPr>
          <p:cNvPr descr="preencoded.png" id="356" name="Google Shape;356;p20"/>
          <p:cNvSpPr/>
          <p:nvPr/>
        </p:nvSpPr>
        <p:spPr>
          <a:xfrm>
            <a:off x="5158416" y="6378254"/>
            <a:ext cx="3874246" cy="2961313"/>
          </a:xfrm>
          <a:custGeom>
            <a:rect b="b" l="l" r="r" t="t"/>
            <a:pathLst>
              <a:path extrusionOk="0" h="2961313" w="3874246">
                <a:moveTo>
                  <a:pt x="0" y="0"/>
                </a:moveTo>
                <a:lnTo>
                  <a:pt x="3874246" y="0"/>
                </a:lnTo>
                <a:lnTo>
                  <a:pt x="3874246" y="2961313"/>
                </a:lnTo>
                <a:lnTo>
                  <a:pt x="0" y="296131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-14" r="-15" t="0"/>
            </a:stretch>
          </a:blipFill>
          <a:ln>
            <a:noFill/>
          </a:ln>
        </p:spPr>
      </p:sp>
      <p:sp>
        <p:nvSpPr>
          <p:cNvPr descr="preencoded.png" id="357" name="Google Shape;357;p20"/>
          <p:cNvSpPr/>
          <p:nvPr/>
        </p:nvSpPr>
        <p:spPr>
          <a:xfrm>
            <a:off x="6908911" y="6593472"/>
            <a:ext cx="373247" cy="373256"/>
          </a:xfrm>
          <a:custGeom>
            <a:rect b="b" l="l" r="r" t="t"/>
            <a:pathLst>
              <a:path extrusionOk="0" h="373256" w="373247">
                <a:moveTo>
                  <a:pt x="0" y="0"/>
                </a:moveTo>
                <a:lnTo>
                  <a:pt x="373247" y="0"/>
                </a:lnTo>
                <a:lnTo>
                  <a:pt x="373247" y="373256"/>
                </a:lnTo>
                <a:lnTo>
                  <a:pt x="0" y="37325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-2498" l="0" r="0" t="-2498"/>
            </a:stretch>
          </a:blipFill>
          <a:ln>
            <a:noFill/>
          </a:ln>
        </p:spPr>
      </p:sp>
      <p:sp>
        <p:nvSpPr>
          <p:cNvPr id="358" name="Google Shape;358;p20"/>
          <p:cNvSpPr txBox="1"/>
          <p:nvPr/>
        </p:nvSpPr>
        <p:spPr>
          <a:xfrm>
            <a:off x="5435889" y="7380351"/>
            <a:ext cx="3319291" cy="3754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8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1" u="none" cap="none" strike="noStrike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SQL Reporting</a:t>
            </a:r>
            <a:endParaRPr/>
          </a:p>
        </p:txBody>
      </p:sp>
      <p:sp>
        <p:nvSpPr>
          <p:cNvPr id="359" name="Google Shape;359;p20"/>
          <p:cNvSpPr txBox="1"/>
          <p:nvPr/>
        </p:nvSpPr>
        <p:spPr>
          <a:xfrm>
            <a:off x="5435889" y="7821435"/>
            <a:ext cx="3319291" cy="1240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60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1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Database relationships, constraints, and SQL-based data retrieval and reporting.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21"/>
          <p:cNvSpPr/>
          <p:nvPr/>
        </p:nvSpPr>
        <p:spPr>
          <a:xfrm>
            <a:off x="0" y="0"/>
            <a:ext cx="18301811" cy="10295001"/>
          </a:xfrm>
          <a:custGeom>
            <a:rect b="b" l="l" r="r" t="t"/>
            <a:pathLst>
              <a:path extrusionOk="0" h="13726668" w="24402414">
                <a:moveTo>
                  <a:pt x="0" y="0"/>
                </a:moveTo>
                <a:lnTo>
                  <a:pt x="24402414" y="0"/>
                </a:lnTo>
                <a:lnTo>
                  <a:pt x="24402414" y="13726668"/>
                </a:lnTo>
                <a:lnTo>
                  <a:pt x="0" y="13726668"/>
                </a:lnTo>
                <a:close/>
              </a:path>
            </a:pathLst>
          </a:custGeom>
          <a:solidFill>
            <a:srgbClr val="181A24"/>
          </a:solidFill>
          <a:ln>
            <a:noFill/>
          </a:ln>
        </p:spPr>
      </p:sp>
      <p:sp>
        <p:nvSpPr>
          <p:cNvPr id="369" name="Google Shape;369;p21"/>
          <p:cNvSpPr/>
          <p:nvPr/>
        </p:nvSpPr>
        <p:spPr>
          <a:xfrm>
            <a:off x="0" y="0"/>
            <a:ext cx="18301811" cy="10295001"/>
          </a:xfrm>
          <a:custGeom>
            <a:rect b="b" l="l" r="r" t="t"/>
            <a:pathLst>
              <a:path extrusionOk="0" h="13726668" w="24402414">
                <a:moveTo>
                  <a:pt x="0" y="0"/>
                </a:moveTo>
                <a:lnTo>
                  <a:pt x="24402414" y="0"/>
                </a:lnTo>
                <a:lnTo>
                  <a:pt x="24402414" y="13726668"/>
                </a:lnTo>
                <a:lnTo>
                  <a:pt x="0" y="13726668"/>
                </a:lnTo>
                <a:close/>
              </a:path>
            </a:pathLst>
          </a:custGeom>
          <a:solidFill>
            <a:srgbClr val="252833"/>
          </a:solidFill>
          <a:ln>
            <a:noFill/>
          </a:ln>
        </p:spPr>
      </p:sp>
      <p:sp>
        <p:nvSpPr>
          <p:cNvPr id="370" name="Google Shape;370;p21"/>
          <p:cNvSpPr txBox="1"/>
          <p:nvPr/>
        </p:nvSpPr>
        <p:spPr>
          <a:xfrm>
            <a:off x="1047950" y="881167"/>
            <a:ext cx="16205949" cy="7511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8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578" u="none" cap="none" strike="noStrike">
                <a:solidFill>
                  <a:srgbClr val="F98AC7"/>
                </a:solidFill>
                <a:latin typeface="Lora"/>
                <a:ea typeface="Lora"/>
                <a:cs typeface="Lora"/>
                <a:sym typeface="Lora"/>
              </a:rPr>
              <a:t>TECHNOLOGIES USED</a:t>
            </a:r>
            <a:endParaRPr/>
          </a:p>
        </p:txBody>
      </p:sp>
      <p:sp>
        <p:nvSpPr>
          <p:cNvPr id="371" name="Google Shape;371;p21"/>
          <p:cNvSpPr/>
          <p:nvPr/>
        </p:nvSpPr>
        <p:spPr>
          <a:xfrm>
            <a:off x="868775" y="1986915"/>
            <a:ext cx="8493919" cy="7407878"/>
          </a:xfrm>
          <a:custGeom>
            <a:rect b="b" l="l" r="r" t="t"/>
            <a:pathLst>
              <a:path extrusionOk="0" h="9877171" w="11325225">
                <a:moveTo>
                  <a:pt x="0" y="49784"/>
                </a:moveTo>
                <a:cubicBezTo>
                  <a:pt x="0" y="22225"/>
                  <a:pt x="22225" y="0"/>
                  <a:pt x="49784" y="0"/>
                </a:cubicBezTo>
                <a:lnTo>
                  <a:pt x="11275441" y="0"/>
                </a:lnTo>
                <a:cubicBezTo>
                  <a:pt x="11302873" y="0"/>
                  <a:pt x="11325225" y="22225"/>
                  <a:pt x="11325225" y="49784"/>
                </a:cubicBezTo>
                <a:lnTo>
                  <a:pt x="11325225" y="9827387"/>
                </a:lnTo>
                <a:cubicBezTo>
                  <a:pt x="11325225" y="9854819"/>
                  <a:pt x="11303000" y="9877171"/>
                  <a:pt x="11275441" y="9877171"/>
                </a:cubicBezTo>
                <a:lnTo>
                  <a:pt x="49784" y="9877171"/>
                </a:lnTo>
                <a:cubicBezTo>
                  <a:pt x="22352" y="9877171"/>
                  <a:pt x="0" y="9854946"/>
                  <a:pt x="0" y="9827387"/>
                </a:cubicBezTo>
                <a:close/>
              </a:path>
            </a:pathLst>
          </a:custGeom>
          <a:solidFill>
            <a:srgbClr val="FFF7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21"/>
          <p:cNvSpPr txBox="1"/>
          <p:nvPr/>
        </p:nvSpPr>
        <p:spPr>
          <a:xfrm>
            <a:off x="1117654" y="2213772"/>
            <a:ext cx="7996180" cy="3754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8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1" u="none" cap="none" strike="noStrike">
                <a:solidFill>
                  <a:srgbClr val="D96B3B"/>
                </a:solidFill>
                <a:latin typeface="Lora"/>
                <a:ea typeface="Lora"/>
                <a:cs typeface="Lora"/>
                <a:sym typeface="Lora"/>
              </a:rPr>
              <a:t>Technology Stack</a:t>
            </a:r>
            <a:endParaRPr/>
          </a:p>
        </p:txBody>
      </p:sp>
      <p:sp>
        <p:nvSpPr>
          <p:cNvPr descr="preencoded.png" id="373" name="Google Shape;373;p21"/>
          <p:cNvSpPr/>
          <p:nvPr/>
        </p:nvSpPr>
        <p:spPr>
          <a:xfrm>
            <a:off x="1117654" y="2855262"/>
            <a:ext cx="7996180" cy="1933594"/>
          </a:xfrm>
          <a:custGeom>
            <a:rect b="b" l="l" r="r" t="t"/>
            <a:pathLst>
              <a:path extrusionOk="0" h="1933594" w="7996180">
                <a:moveTo>
                  <a:pt x="0" y="0"/>
                </a:moveTo>
                <a:lnTo>
                  <a:pt x="7996180" y="0"/>
                </a:lnTo>
                <a:lnTo>
                  <a:pt x="7996180" y="1933594"/>
                </a:lnTo>
                <a:lnTo>
                  <a:pt x="0" y="19335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215" l="0" r="0" t="-215"/>
            </a:stretch>
          </a:blipFill>
          <a:ln>
            <a:noFill/>
          </a:ln>
        </p:spPr>
      </p:sp>
      <p:sp>
        <p:nvSpPr>
          <p:cNvPr id="374" name="Google Shape;374;p21"/>
          <p:cNvSpPr txBox="1"/>
          <p:nvPr/>
        </p:nvSpPr>
        <p:spPr>
          <a:xfrm>
            <a:off x="1509512" y="3123228"/>
            <a:ext cx="7326840" cy="3754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8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1" u="none" cap="none" strike="noStrik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MySQL</a:t>
            </a:r>
            <a:endParaRPr/>
          </a:p>
        </p:txBody>
      </p:sp>
      <p:sp>
        <p:nvSpPr>
          <p:cNvPr id="375" name="Google Shape;375;p21"/>
          <p:cNvSpPr txBox="1"/>
          <p:nvPr/>
        </p:nvSpPr>
        <p:spPr>
          <a:xfrm>
            <a:off x="1509512" y="3658886"/>
            <a:ext cx="7326840" cy="8524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60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1" u="none" cap="none" strike="noStrike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Relational Database Management System — the core engine for storing and managing all project data.</a:t>
            </a:r>
            <a:endParaRPr/>
          </a:p>
        </p:txBody>
      </p:sp>
      <p:sp>
        <p:nvSpPr>
          <p:cNvPr descr="preencoded.png" id="376" name="Google Shape;376;p21"/>
          <p:cNvSpPr/>
          <p:nvPr/>
        </p:nvSpPr>
        <p:spPr>
          <a:xfrm>
            <a:off x="1117654" y="5025238"/>
            <a:ext cx="7996180" cy="1933594"/>
          </a:xfrm>
          <a:custGeom>
            <a:rect b="b" l="l" r="r" t="t"/>
            <a:pathLst>
              <a:path extrusionOk="0" h="1933594" w="7996180">
                <a:moveTo>
                  <a:pt x="0" y="0"/>
                </a:moveTo>
                <a:lnTo>
                  <a:pt x="7996180" y="0"/>
                </a:lnTo>
                <a:lnTo>
                  <a:pt x="7996180" y="1933594"/>
                </a:lnTo>
                <a:lnTo>
                  <a:pt x="0" y="19335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215" l="0" r="0" t="-215"/>
            </a:stretch>
          </a:blipFill>
          <a:ln>
            <a:noFill/>
          </a:ln>
        </p:spPr>
      </p:sp>
      <p:sp>
        <p:nvSpPr>
          <p:cNvPr id="377" name="Google Shape;377;p21"/>
          <p:cNvSpPr txBox="1"/>
          <p:nvPr/>
        </p:nvSpPr>
        <p:spPr>
          <a:xfrm>
            <a:off x="1509512" y="5293195"/>
            <a:ext cx="7326840" cy="3754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8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1" u="none" cap="none" strike="noStrik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SQL</a:t>
            </a:r>
            <a:endParaRPr/>
          </a:p>
        </p:txBody>
      </p:sp>
      <p:sp>
        <p:nvSpPr>
          <p:cNvPr id="378" name="Google Shape;378;p21"/>
          <p:cNvSpPr txBox="1"/>
          <p:nvPr/>
        </p:nvSpPr>
        <p:spPr>
          <a:xfrm>
            <a:off x="1509512" y="5828852"/>
            <a:ext cx="7326840" cy="8524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60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1" u="none" cap="none" strike="noStrike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Structured Query Language used for all database operations including DDL, DML, and DQL.</a:t>
            </a:r>
            <a:endParaRPr/>
          </a:p>
        </p:txBody>
      </p:sp>
      <p:sp>
        <p:nvSpPr>
          <p:cNvPr descr="preencoded.png" id="379" name="Google Shape;379;p21"/>
          <p:cNvSpPr/>
          <p:nvPr/>
        </p:nvSpPr>
        <p:spPr>
          <a:xfrm>
            <a:off x="1117654" y="7195214"/>
            <a:ext cx="7996180" cy="1933594"/>
          </a:xfrm>
          <a:custGeom>
            <a:rect b="b" l="l" r="r" t="t"/>
            <a:pathLst>
              <a:path extrusionOk="0" h="1933594" w="7996180">
                <a:moveTo>
                  <a:pt x="0" y="0"/>
                </a:moveTo>
                <a:lnTo>
                  <a:pt x="7996180" y="0"/>
                </a:lnTo>
                <a:lnTo>
                  <a:pt x="7996180" y="1933594"/>
                </a:lnTo>
                <a:lnTo>
                  <a:pt x="0" y="19335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215" l="0" r="0" t="-215"/>
            </a:stretch>
          </a:blipFill>
          <a:ln>
            <a:noFill/>
          </a:ln>
        </p:spPr>
      </p:sp>
      <p:sp>
        <p:nvSpPr>
          <p:cNvPr id="380" name="Google Shape;380;p21"/>
          <p:cNvSpPr txBox="1"/>
          <p:nvPr/>
        </p:nvSpPr>
        <p:spPr>
          <a:xfrm>
            <a:off x="1509512" y="7463171"/>
            <a:ext cx="7326840" cy="3754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8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1" u="none" cap="none" strike="noStrik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ER Diagram</a:t>
            </a:r>
            <a:endParaRPr/>
          </a:p>
        </p:txBody>
      </p:sp>
      <p:sp>
        <p:nvSpPr>
          <p:cNvPr id="381" name="Google Shape;381;p21"/>
          <p:cNvSpPr txBox="1"/>
          <p:nvPr/>
        </p:nvSpPr>
        <p:spPr>
          <a:xfrm>
            <a:off x="1509512" y="7998828"/>
            <a:ext cx="7326840" cy="8524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60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1" u="none" cap="none" strike="noStrike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Entity-Relationship modeling used to design and visualize the database schema before implementation.</a:t>
            </a:r>
            <a:endParaRPr/>
          </a:p>
        </p:txBody>
      </p:sp>
      <p:sp>
        <p:nvSpPr>
          <p:cNvPr id="382" name="Google Shape;382;p21"/>
          <p:cNvSpPr/>
          <p:nvPr/>
        </p:nvSpPr>
        <p:spPr>
          <a:xfrm>
            <a:off x="9620974" y="1986915"/>
            <a:ext cx="7821454" cy="7407878"/>
          </a:xfrm>
          <a:custGeom>
            <a:rect b="b" l="l" r="r" t="t"/>
            <a:pathLst>
              <a:path extrusionOk="0" h="9877171" w="10428605">
                <a:moveTo>
                  <a:pt x="0" y="49784"/>
                </a:moveTo>
                <a:cubicBezTo>
                  <a:pt x="0" y="22225"/>
                  <a:pt x="22225" y="0"/>
                  <a:pt x="49784" y="0"/>
                </a:cubicBezTo>
                <a:lnTo>
                  <a:pt x="10378821" y="0"/>
                </a:lnTo>
                <a:cubicBezTo>
                  <a:pt x="10406252" y="0"/>
                  <a:pt x="10428605" y="22225"/>
                  <a:pt x="10428605" y="49784"/>
                </a:cubicBezTo>
                <a:lnTo>
                  <a:pt x="10428605" y="9827387"/>
                </a:lnTo>
                <a:cubicBezTo>
                  <a:pt x="10428605" y="9854819"/>
                  <a:pt x="10406380" y="9877171"/>
                  <a:pt x="10378821" y="9877171"/>
                </a:cubicBezTo>
                <a:lnTo>
                  <a:pt x="49784" y="9877171"/>
                </a:lnTo>
                <a:cubicBezTo>
                  <a:pt x="22352" y="9877171"/>
                  <a:pt x="0" y="9854946"/>
                  <a:pt x="0" y="9827387"/>
                </a:cubicBezTo>
                <a:close/>
              </a:path>
            </a:pathLst>
          </a:custGeom>
          <a:solidFill>
            <a:srgbClr val="FFFD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21"/>
          <p:cNvSpPr txBox="1"/>
          <p:nvPr/>
        </p:nvSpPr>
        <p:spPr>
          <a:xfrm>
            <a:off x="9869853" y="2213772"/>
            <a:ext cx="7323715" cy="3754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8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1" u="none" cap="none" strike="noStrike">
                <a:solidFill>
                  <a:srgbClr val="D96B3B"/>
                </a:solidFill>
                <a:latin typeface="Lora"/>
                <a:ea typeface="Lora"/>
                <a:cs typeface="Lora"/>
                <a:sym typeface="Lora"/>
              </a:rPr>
              <a:t>Tools &amp; Environment</a:t>
            </a:r>
            <a:endParaRPr/>
          </a:p>
        </p:txBody>
      </p:sp>
      <p:sp>
        <p:nvSpPr>
          <p:cNvPr id="384" name="Google Shape;384;p21"/>
          <p:cNvSpPr txBox="1"/>
          <p:nvPr/>
        </p:nvSpPr>
        <p:spPr>
          <a:xfrm>
            <a:off x="9869853" y="3151823"/>
            <a:ext cx="7323715" cy="3754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8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1" u="none" cap="none" strike="noStrik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Microsoft Paint</a:t>
            </a:r>
            <a:endParaRPr/>
          </a:p>
        </p:txBody>
      </p:sp>
      <p:sp>
        <p:nvSpPr>
          <p:cNvPr id="385" name="Google Shape;385;p21"/>
          <p:cNvSpPr txBox="1"/>
          <p:nvPr/>
        </p:nvSpPr>
        <p:spPr>
          <a:xfrm>
            <a:off x="9869853" y="3687480"/>
            <a:ext cx="7323715" cy="4643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60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1" u="none" cap="none" strike="noStrike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Used for diagram visualization and ER diagram drawing.</a:t>
            </a:r>
            <a:endParaRPr/>
          </a:p>
        </p:txBody>
      </p:sp>
      <p:sp>
        <p:nvSpPr>
          <p:cNvPr id="386" name="Google Shape;386;p21"/>
          <p:cNvSpPr txBox="1"/>
          <p:nvPr/>
        </p:nvSpPr>
        <p:spPr>
          <a:xfrm>
            <a:off x="9869853" y="4921282"/>
            <a:ext cx="7323715" cy="3754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8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1" u="none" cap="none" strike="noStrik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MySQL Command Line</a:t>
            </a:r>
            <a:endParaRPr/>
          </a:p>
        </p:txBody>
      </p:sp>
      <p:sp>
        <p:nvSpPr>
          <p:cNvPr id="387" name="Google Shape;387;p21"/>
          <p:cNvSpPr txBox="1"/>
          <p:nvPr/>
        </p:nvSpPr>
        <p:spPr>
          <a:xfrm>
            <a:off x="9869853" y="5456939"/>
            <a:ext cx="7323715" cy="8524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60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1" u="none" cap="none" strike="noStrike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Primary interface for database implementation, testing, and query execution.</a:t>
            </a:r>
            <a:endParaRPr/>
          </a:p>
        </p:txBody>
      </p:sp>
      <p:sp>
        <p:nvSpPr>
          <p:cNvPr id="388" name="Google Shape;388;p21"/>
          <p:cNvSpPr/>
          <p:nvPr/>
        </p:nvSpPr>
        <p:spPr>
          <a:xfrm>
            <a:off x="9869853" y="6575450"/>
            <a:ext cx="7323676" cy="1714024"/>
          </a:xfrm>
          <a:custGeom>
            <a:rect b="b" l="l" r="r" t="t"/>
            <a:pathLst>
              <a:path extrusionOk="0" h="2285365" w="9764902">
                <a:moveTo>
                  <a:pt x="0" y="49784"/>
                </a:moveTo>
                <a:cubicBezTo>
                  <a:pt x="0" y="22225"/>
                  <a:pt x="22225" y="0"/>
                  <a:pt x="49784" y="0"/>
                </a:cubicBezTo>
                <a:lnTo>
                  <a:pt x="9715119" y="0"/>
                </a:lnTo>
                <a:cubicBezTo>
                  <a:pt x="9742550" y="0"/>
                  <a:pt x="9764902" y="22225"/>
                  <a:pt x="9764902" y="49784"/>
                </a:cubicBezTo>
                <a:lnTo>
                  <a:pt x="9764902" y="2235581"/>
                </a:lnTo>
                <a:cubicBezTo>
                  <a:pt x="9764902" y="2263013"/>
                  <a:pt x="9742677" y="2285365"/>
                  <a:pt x="9715119" y="2285365"/>
                </a:cubicBezTo>
                <a:lnTo>
                  <a:pt x="49784" y="2285365"/>
                </a:lnTo>
                <a:cubicBezTo>
                  <a:pt x="22352" y="2285365"/>
                  <a:pt x="0" y="2263140"/>
                  <a:pt x="0" y="2235581"/>
                </a:cubicBezTo>
                <a:close/>
              </a:path>
            </a:pathLst>
          </a:custGeom>
          <a:solidFill>
            <a:srgbClr val="FDCE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descr="preencoded.png" id="389" name="Google Shape;389;p21"/>
          <p:cNvSpPr/>
          <p:nvPr/>
        </p:nvSpPr>
        <p:spPr>
          <a:xfrm>
            <a:off x="10118741" y="6922941"/>
            <a:ext cx="311181" cy="248888"/>
          </a:xfrm>
          <a:custGeom>
            <a:rect b="b" l="l" r="r" t="t"/>
            <a:pathLst>
              <a:path extrusionOk="0" h="331851" w="414909">
                <a:moveTo>
                  <a:pt x="0" y="0"/>
                </a:moveTo>
                <a:lnTo>
                  <a:pt x="414909" y="0"/>
                </a:lnTo>
                <a:lnTo>
                  <a:pt x="414909" y="331851"/>
                </a:lnTo>
                <a:lnTo>
                  <a:pt x="0" y="33185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1140" l="0" r="15" t="-1140"/>
            </a:stretch>
          </a:blipFill>
          <a:ln>
            <a:noFill/>
          </a:ln>
        </p:spPr>
      </p:sp>
      <p:sp>
        <p:nvSpPr>
          <p:cNvPr id="390" name="Google Shape;390;p21"/>
          <p:cNvSpPr txBox="1"/>
          <p:nvPr/>
        </p:nvSpPr>
        <p:spPr>
          <a:xfrm>
            <a:off x="10678754" y="6774056"/>
            <a:ext cx="6265936" cy="1240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60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1" u="none" cap="none" strike="noStrike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All implementation was performed directly in the MySQL Command Line Client, ensuring authentic database interaction and real query output.</a:t>
            </a:r>
            <a:endParaRPr/>
          </a:p>
        </p:txBody>
      </p:sp>
      <p:sp>
        <p:nvSpPr>
          <p:cNvPr id="391" name="Google Shape;391;p21"/>
          <p:cNvSpPr/>
          <p:nvPr/>
        </p:nvSpPr>
        <p:spPr>
          <a:xfrm>
            <a:off x="9841259" y="2855262"/>
            <a:ext cx="7380922" cy="57150"/>
          </a:xfrm>
          <a:custGeom>
            <a:rect b="b" l="l" r="r" t="t"/>
            <a:pathLst>
              <a:path extrusionOk="0" h="76200" w="9841230">
                <a:moveTo>
                  <a:pt x="0" y="0"/>
                </a:moveTo>
                <a:lnTo>
                  <a:pt x="9841230" y="0"/>
                </a:lnTo>
                <a:lnTo>
                  <a:pt x="9841230" y="76200"/>
                </a:lnTo>
                <a:lnTo>
                  <a:pt x="0" y="76200"/>
                </a:lnTo>
                <a:close/>
              </a:path>
            </a:pathLst>
          </a:custGeom>
          <a:solidFill>
            <a:srgbClr val="6EB9FC"/>
          </a:solidFill>
          <a:ln>
            <a:noFill/>
          </a:ln>
        </p:spPr>
      </p:sp>
      <p:sp>
        <p:nvSpPr>
          <p:cNvPr id="392" name="Google Shape;392;p21"/>
          <p:cNvSpPr/>
          <p:nvPr/>
        </p:nvSpPr>
        <p:spPr>
          <a:xfrm>
            <a:off x="9841259" y="4624730"/>
            <a:ext cx="7380922" cy="57150"/>
          </a:xfrm>
          <a:custGeom>
            <a:rect b="b" l="l" r="r" t="t"/>
            <a:pathLst>
              <a:path extrusionOk="0" h="76200" w="9841230">
                <a:moveTo>
                  <a:pt x="0" y="0"/>
                </a:moveTo>
                <a:lnTo>
                  <a:pt x="9841230" y="0"/>
                </a:lnTo>
                <a:lnTo>
                  <a:pt x="9841230" y="76200"/>
                </a:lnTo>
                <a:lnTo>
                  <a:pt x="0" y="76200"/>
                </a:lnTo>
                <a:close/>
              </a:path>
            </a:pathLst>
          </a:custGeom>
          <a:solidFill>
            <a:srgbClr val="6EB9FC"/>
          </a:solidFill>
          <a:ln>
            <a:noFill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22"/>
          <p:cNvSpPr/>
          <p:nvPr/>
        </p:nvSpPr>
        <p:spPr>
          <a:xfrm>
            <a:off x="0" y="0"/>
            <a:ext cx="18301811" cy="10295001"/>
          </a:xfrm>
          <a:custGeom>
            <a:rect b="b" l="l" r="r" t="t"/>
            <a:pathLst>
              <a:path extrusionOk="0" h="13726668" w="24402414">
                <a:moveTo>
                  <a:pt x="0" y="0"/>
                </a:moveTo>
                <a:lnTo>
                  <a:pt x="24402414" y="0"/>
                </a:lnTo>
                <a:lnTo>
                  <a:pt x="24402414" y="13726668"/>
                </a:lnTo>
                <a:lnTo>
                  <a:pt x="0" y="13726668"/>
                </a:lnTo>
                <a:close/>
              </a:path>
            </a:pathLst>
          </a:custGeom>
          <a:solidFill>
            <a:srgbClr val="181A24"/>
          </a:solidFill>
          <a:ln>
            <a:noFill/>
          </a:ln>
        </p:spPr>
      </p:sp>
      <p:sp>
        <p:nvSpPr>
          <p:cNvPr id="402" name="Google Shape;402;p22"/>
          <p:cNvSpPr/>
          <p:nvPr/>
        </p:nvSpPr>
        <p:spPr>
          <a:xfrm>
            <a:off x="0" y="0"/>
            <a:ext cx="18301811" cy="10295001"/>
          </a:xfrm>
          <a:custGeom>
            <a:rect b="b" l="l" r="r" t="t"/>
            <a:pathLst>
              <a:path extrusionOk="0" h="13726668" w="24402414">
                <a:moveTo>
                  <a:pt x="0" y="0"/>
                </a:moveTo>
                <a:lnTo>
                  <a:pt x="24402414" y="0"/>
                </a:lnTo>
                <a:lnTo>
                  <a:pt x="24402414" y="13726668"/>
                </a:lnTo>
                <a:lnTo>
                  <a:pt x="0" y="13726668"/>
                </a:lnTo>
                <a:close/>
              </a:path>
            </a:pathLst>
          </a:custGeom>
          <a:solidFill>
            <a:srgbClr val="252833"/>
          </a:solidFill>
          <a:ln>
            <a:noFill/>
          </a:ln>
        </p:spPr>
      </p:sp>
      <p:sp>
        <p:nvSpPr>
          <p:cNvPr id="403" name="Google Shape;403;p22"/>
          <p:cNvSpPr txBox="1"/>
          <p:nvPr/>
        </p:nvSpPr>
        <p:spPr>
          <a:xfrm>
            <a:off x="1047950" y="705564"/>
            <a:ext cx="16205949" cy="6353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8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827" u="none" cap="none" strike="noStrike">
                <a:solidFill>
                  <a:srgbClr val="F98AC7"/>
                </a:solidFill>
                <a:latin typeface="Lora"/>
                <a:ea typeface="Lora"/>
                <a:cs typeface="Lora"/>
                <a:sym typeface="Lora"/>
              </a:rPr>
              <a:t>DATABASE OVERVIEW</a:t>
            </a:r>
            <a:endParaRPr/>
          </a:p>
        </p:txBody>
      </p:sp>
      <p:sp>
        <p:nvSpPr>
          <p:cNvPr id="404" name="Google Shape;404;p22"/>
          <p:cNvSpPr/>
          <p:nvPr/>
        </p:nvSpPr>
        <p:spPr>
          <a:xfrm>
            <a:off x="896922" y="1592370"/>
            <a:ext cx="6477476" cy="7977949"/>
          </a:xfrm>
          <a:custGeom>
            <a:rect b="b" l="l" r="r" t="t"/>
            <a:pathLst>
              <a:path extrusionOk="0" h="10637266" w="8636635">
                <a:moveTo>
                  <a:pt x="0" y="41910"/>
                </a:moveTo>
                <a:cubicBezTo>
                  <a:pt x="0" y="18796"/>
                  <a:pt x="18796" y="0"/>
                  <a:pt x="41910" y="0"/>
                </a:cubicBezTo>
                <a:lnTo>
                  <a:pt x="8594725" y="0"/>
                </a:lnTo>
                <a:cubicBezTo>
                  <a:pt x="8617839" y="0"/>
                  <a:pt x="8636635" y="18796"/>
                  <a:pt x="8636635" y="41910"/>
                </a:cubicBezTo>
                <a:lnTo>
                  <a:pt x="8636635" y="10595356"/>
                </a:lnTo>
                <a:cubicBezTo>
                  <a:pt x="8636635" y="10618470"/>
                  <a:pt x="8617839" y="10637266"/>
                  <a:pt x="8594725" y="10637266"/>
                </a:cubicBezTo>
                <a:lnTo>
                  <a:pt x="41910" y="10637266"/>
                </a:lnTo>
                <a:cubicBezTo>
                  <a:pt x="18796" y="10637266"/>
                  <a:pt x="0" y="10618470"/>
                  <a:pt x="0" y="10595356"/>
                </a:cubicBezTo>
                <a:close/>
              </a:path>
            </a:pathLst>
          </a:custGeom>
          <a:solidFill>
            <a:srgbClr val="F7F1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descr="preencoded.png" id="405" name="Google Shape;405;p22"/>
          <p:cNvSpPr/>
          <p:nvPr/>
        </p:nvSpPr>
        <p:spPr>
          <a:xfrm>
            <a:off x="1106481" y="1780927"/>
            <a:ext cx="6058319" cy="2653741"/>
          </a:xfrm>
          <a:custGeom>
            <a:rect b="b" l="l" r="r" t="t"/>
            <a:pathLst>
              <a:path extrusionOk="0" h="2653741" w="6058319">
                <a:moveTo>
                  <a:pt x="0" y="0"/>
                </a:moveTo>
                <a:lnTo>
                  <a:pt x="6058319" y="0"/>
                </a:lnTo>
                <a:lnTo>
                  <a:pt x="6058319" y="2653742"/>
                </a:lnTo>
                <a:lnTo>
                  <a:pt x="0" y="265374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74" l="0" r="0" t="-174"/>
            </a:stretch>
          </a:blipFill>
          <a:ln>
            <a:noFill/>
          </a:ln>
        </p:spPr>
      </p:sp>
      <p:sp>
        <p:nvSpPr>
          <p:cNvPr id="406" name="Google Shape;406;p22"/>
          <p:cNvSpPr txBox="1"/>
          <p:nvPr/>
        </p:nvSpPr>
        <p:spPr>
          <a:xfrm>
            <a:off x="1459020" y="2009565"/>
            <a:ext cx="5467617" cy="317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7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76" u="none" cap="none" strike="noStrik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Database Name</a:t>
            </a:r>
            <a:endParaRPr/>
          </a:p>
        </p:txBody>
      </p:sp>
      <p:sp>
        <p:nvSpPr>
          <p:cNvPr id="407" name="Google Shape;407;p22"/>
          <p:cNvSpPr txBox="1"/>
          <p:nvPr/>
        </p:nvSpPr>
        <p:spPr>
          <a:xfrm>
            <a:off x="1459020" y="2466394"/>
            <a:ext cx="5467617" cy="17301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7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329" u="none" cap="none" strike="noStrike">
                <a:solidFill>
                  <a:srgbClr val="D96B3B"/>
                </a:solidFill>
                <a:latin typeface="Lora"/>
                <a:ea typeface="Lora"/>
                <a:cs typeface="Lora"/>
                <a:sym typeface="Lora"/>
              </a:rPr>
              <a:t>online_food_ordering</a:t>
            </a:r>
            <a:endParaRPr/>
          </a:p>
        </p:txBody>
      </p:sp>
      <p:sp>
        <p:nvSpPr>
          <p:cNvPr descr="preencoded.png" id="408" name="Google Shape;408;p22"/>
          <p:cNvSpPr/>
          <p:nvPr/>
        </p:nvSpPr>
        <p:spPr>
          <a:xfrm>
            <a:off x="1106481" y="4602232"/>
            <a:ext cx="6058319" cy="3056192"/>
          </a:xfrm>
          <a:custGeom>
            <a:rect b="b" l="l" r="r" t="t"/>
            <a:pathLst>
              <a:path extrusionOk="0" h="3056192" w="6058319">
                <a:moveTo>
                  <a:pt x="0" y="0"/>
                </a:moveTo>
                <a:lnTo>
                  <a:pt x="6058319" y="0"/>
                </a:lnTo>
                <a:lnTo>
                  <a:pt x="6058319" y="3056192"/>
                </a:lnTo>
                <a:lnTo>
                  <a:pt x="0" y="30561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102" l="0" r="0" t="-102"/>
            </a:stretch>
          </a:blipFill>
          <a:ln>
            <a:noFill/>
          </a:ln>
        </p:spPr>
      </p:sp>
      <p:sp>
        <p:nvSpPr>
          <p:cNvPr id="409" name="Google Shape;409;p22"/>
          <p:cNvSpPr txBox="1"/>
          <p:nvPr/>
        </p:nvSpPr>
        <p:spPr>
          <a:xfrm>
            <a:off x="1459020" y="4830870"/>
            <a:ext cx="5467617" cy="317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7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76" u="none" cap="none" strike="noStrik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Six Core Tables</a:t>
            </a:r>
            <a:endParaRPr/>
          </a:p>
        </p:txBody>
      </p:sp>
      <p:sp>
        <p:nvSpPr>
          <p:cNvPr id="410" name="Google Shape;410;p22"/>
          <p:cNvSpPr txBox="1"/>
          <p:nvPr/>
        </p:nvSpPr>
        <p:spPr>
          <a:xfrm>
            <a:off x="1459020" y="5287699"/>
            <a:ext cx="5467617" cy="21325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42740" lvl="1" marL="285480" marR="0" rtl="0" algn="l">
              <a:lnSpc>
                <a:spcPct val="14397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6"/>
              <a:buFont typeface="Arial"/>
              <a:buChar char="•"/>
            </a:pPr>
            <a:r>
              <a:rPr b="0" i="0" lang="en-US" sz="1576" u="none" cap="none" strike="noStrike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Customer</a:t>
            </a:r>
            <a:endParaRPr/>
          </a:p>
          <a:p>
            <a:pPr indent="-142740" lvl="1" marL="285480" marR="0" rtl="0" algn="l">
              <a:lnSpc>
                <a:spcPct val="14397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6"/>
              <a:buFont typeface="Arial"/>
              <a:buChar char="•"/>
            </a:pPr>
            <a:r>
              <a:rPr b="0" i="0" lang="en-US" sz="1576" u="none" cap="none" strike="noStrike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Restaurant</a:t>
            </a:r>
            <a:endParaRPr/>
          </a:p>
          <a:p>
            <a:pPr indent="-142740" lvl="1" marL="285480" marR="0" rtl="0" algn="l">
              <a:lnSpc>
                <a:spcPct val="14397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6"/>
              <a:buFont typeface="Arial"/>
              <a:buChar char="•"/>
            </a:pPr>
            <a:r>
              <a:rPr b="0" i="0" lang="en-US" sz="1576" u="none" cap="none" strike="noStrike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Food_Item</a:t>
            </a:r>
            <a:endParaRPr/>
          </a:p>
          <a:p>
            <a:pPr indent="-142740" lvl="1" marL="285480" marR="0" rtl="0" algn="l">
              <a:lnSpc>
                <a:spcPct val="14397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6"/>
              <a:buFont typeface="Arial"/>
              <a:buChar char="•"/>
            </a:pPr>
            <a:r>
              <a:rPr b="0" i="0" lang="en-US" sz="1576" u="none" cap="none" strike="noStrike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Orders</a:t>
            </a:r>
            <a:endParaRPr/>
          </a:p>
          <a:p>
            <a:pPr indent="-142740" lvl="1" marL="285480" marR="0" rtl="0" algn="l">
              <a:lnSpc>
                <a:spcPct val="14397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6"/>
              <a:buFont typeface="Arial"/>
              <a:buChar char="•"/>
            </a:pPr>
            <a:r>
              <a:rPr b="0" i="0" lang="en-US" sz="1576" u="none" cap="none" strike="noStrike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Order_Detail</a:t>
            </a:r>
            <a:endParaRPr/>
          </a:p>
          <a:p>
            <a:pPr indent="-142740" lvl="1" marL="285480" marR="0" rtl="0" algn="l">
              <a:lnSpc>
                <a:spcPct val="14397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6"/>
              <a:buFont typeface="Arial"/>
              <a:buChar char="•"/>
            </a:pPr>
            <a:r>
              <a:rPr b="0" i="0" lang="en-US" sz="1576" u="none" cap="none" strike="noStrike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Payment</a:t>
            </a:r>
            <a:endParaRPr/>
          </a:p>
        </p:txBody>
      </p:sp>
      <p:sp>
        <p:nvSpPr>
          <p:cNvPr descr="preencoded.png" id="411" name="Google Shape;411;p22"/>
          <p:cNvSpPr/>
          <p:nvPr/>
        </p:nvSpPr>
        <p:spPr>
          <a:xfrm>
            <a:off x="1106481" y="7825988"/>
            <a:ext cx="6058319" cy="1555728"/>
          </a:xfrm>
          <a:custGeom>
            <a:rect b="b" l="l" r="r" t="t"/>
            <a:pathLst>
              <a:path extrusionOk="0" h="1555728" w="6058319">
                <a:moveTo>
                  <a:pt x="0" y="0"/>
                </a:moveTo>
                <a:lnTo>
                  <a:pt x="6058319" y="0"/>
                </a:lnTo>
                <a:lnTo>
                  <a:pt x="6058319" y="1555727"/>
                </a:lnTo>
                <a:lnTo>
                  <a:pt x="0" y="15557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434" l="0" r="0" t="-435"/>
            </a:stretch>
          </a:blipFill>
          <a:ln>
            <a:noFill/>
          </a:ln>
        </p:spPr>
      </p:sp>
      <p:sp>
        <p:nvSpPr>
          <p:cNvPr id="412" name="Google Shape;412;p22"/>
          <p:cNvSpPr txBox="1"/>
          <p:nvPr/>
        </p:nvSpPr>
        <p:spPr>
          <a:xfrm>
            <a:off x="1459020" y="8054626"/>
            <a:ext cx="5467617" cy="317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7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76" u="none" cap="none" strike="noStrik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Key Relationships</a:t>
            </a:r>
            <a:endParaRPr/>
          </a:p>
        </p:txBody>
      </p:sp>
      <p:sp>
        <p:nvSpPr>
          <p:cNvPr id="413" name="Google Shape;413;p22"/>
          <p:cNvSpPr txBox="1"/>
          <p:nvPr/>
        </p:nvSpPr>
        <p:spPr>
          <a:xfrm>
            <a:off x="1459020" y="8511454"/>
            <a:ext cx="5467617" cy="6320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3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6" u="none" cap="none" strike="noStrike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All tables are linked via Primary Key–Foreign Key constraints to enforce referential integrity throughout the system.</a:t>
            </a:r>
            <a:endParaRPr/>
          </a:p>
        </p:txBody>
      </p:sp>
      <p:sp>
        <p:nvSpPr>
          <p:cNvPr id="414" name="Google Shape;414;p22"/>
          <p:cNvSpPr txBox="1"/>
          <p:nvPr/>
        </p:nvSpPr>
        <p:spPr>
          <a:xfrm>
            <a:off x="7744320" y="1750400"/>
            <a:ext cx="9518952" cy="317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7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76" u="none" cap="none" strike="noStrike">
                <a:solidFill>
                  <a:srgbClr val="F98AC7"/>
                </a:solidFill>
                <a:latin typeface="Lora"/>
                <a:ea typeface="Lora"/>
                <a:cs typeface="Lora"/>
                <a:sym typeface="Lora"/>
              </a:rPr>
              <a:t>MySQL — Database Tables Screenshot</a:t>
            </a:r>
            <a:endParaRPr/>
          </a:p>
        </p:txBody>
      </p:sp>
      <p:sp>
        <p:nvSpPr>
          <p:cNvPr descr="preencoded.png" id="415" name="Google Shape;415;p22"/>
          <p:cNvSpPr/>
          <p:nvPr/>
        </p:nvSpPr>
        <p:spPr>
          <a:xfrm>
            <a:off x="7744320" y="2256806"/>
            <a:ext cx="7615047" cy="5127307"/>
          </a:xfrm>
          <a:custGeom>
            <a:rect b="b" l="l" r="r" t="t"/>
            <a:pathLst>
              <a:path extrusionOk="0" h="6836410" w="10153396">
                <a:moveTo>
                  <a:pt x="0" y="0"/>
                </a:moveTo>
                <a:lnTo>
                  <a:pt x="10153396" y="0"/>
                </a:lnTo>
                <a:lnTo>
                  <a:pt x="10153396" y="6836410"/>
                </a:lnTo>
                <a:lnTo>
                  <a:pt x="0" y="68364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-1" l="0" r="0" t="-2"/>
            </a:stretch>
          </a:blipFill>
          <a:ln>
            <a:noFill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23"/>
          <p:cNvSpPr/>
          <p:nvPr/>
        </p:nvSpPr>
        <p:spPr>
          <a:xfrm>
            <a:off x="0" y="0"/>
            <a:ext cx="18301811" cy="10295001"/>
          </a:xfrm>
          <a:custGeom>
            <a:rect b="b" l="l" r="r" t="t"/>
            <a:pathLst>
              <a:path extrusionOk="0" h="13726668" w="24402414">
                <a:moveTo>
                  <a:pt x="0" y="0"/>
                </a:moveTo>
                <a:lnTo>
                  <a:pt x="24402414" y="0"/>
                </a:lnTo>
                <a:lnTo>
                  <a:pt x="24402414" y="13726668"/>
                </a:lnTo>
                <a:lnTo>
                  <a:pt x="0" y="13726668"/>
                </a:lnTo>
                <a:close/>
              </a:path>
            </a:pathLst>
          </a:custGeom>
          <a:solidFill>
            <a:srgbClr val="181A24"/>
          </a:solidFill>
          <a:ln>
            <a:noFill/>
          </a:ln>
        </p:spPr>
      </p:sp>
      <p:sp>
        <p:nvSpPr>
          <p:cNvPr id="425" name="Google Shape;425;p23"/>
          <p:cNvSpPr/>
          <p:nvPr/>
        </p:nvSpPr>
        <p:spPr>
          <a:xfrm>
            <a:off x="0" y="0"/>
            <a:ext cx="18301811" cy="10295001"/>
          </a:xfrm>
          <a:custGeom>
            <a:rect b="b" l="l" r="r" t="t"/>
            <a:pathLst>
              <a:path extrusionOk="0" h="13726668" w="24402414">
                <a:moveTo>
                  <a:pt x="0" y="0"/>
                </a:moveTo>
                <a:lnTo>
                  <a:pt x="24402414" y="0"/>
                </a:lnTo>
                <a:lnTo>
                  <a:pt x="24402414" y="13726668"/>
                </a:lnTo>
                <a:lnTo>
                  <a:pt x="0" y="13726668"/>
                </a:lnTo>
                <a:close/>
              </a:path>
            </a:pathLst>
          </a:custGeom>
          <a:solidFill>
            <a:srgbClr val="252833"/>
          </a:solidFill>
          <a:ln>
            <a:noFill/>
          </a:ln>
        </p:spPr>
      </p:sp>
      <p:sp>
        <p:nvSpPr>
          <p:cNvPr id="426" name="Google Shape;426;p23"/>
          <p:cNvSpPr/>
          <p:nvPr/>
        </p:nvSpPr>
        <p:spPr>
          <a:xfrm>
            <a:off x="1047950" y="788508"/>
            <a:ext cx="1029843" cy="293750"/>
          </a:xfrm>
          <a:custGeom>
            <a:rect b="b" l="l" r="r" t="t"/>
            <a:pathLst>
              <a:path extrusionOk="0" h="391668" w="1373124">
                <a:moveTo>
                  <a:pt x="0" y="30988"/>
                </a:moveTo>
                <a:cubicBezTo>
                  <a:pt x="0" y="13843"/>
                  <a:pt x="13843" y="0"/>
                  <a:pt x="30988" y="0"/>
                </a:cubicBezTo>
                <a:lnTo>
                  <a:pt x="1342136" y="0"/>
                </a:lnTo>
                <a:cubicBezTo>
                  <a:pt x="1359281" y="0"/>
                  <a:pt x="1373124" y="13843"/>
                  <a:pt x="1373124" y="30988"/>
                </a:cubicBezTo>
                <a:lnTo>
                  <a:pt x="1373124" y="360680"/>
                </a:lnTo>
                <a:cubicBezTo>
                  <a:pt x="1373124" y="377825"/>
                  <a:pt x="1359281" y="391668"/>
                  <a:pt x="1342136" y="391668"/>
                </a:cubicBezTo>
                <a:lnTo>
                  <a:pt x="30988" y="391668"/>
                </a:lnTo>
                <a:cubicBezTo>
                  <a:pt x="13843" y="391668"/>
                  <a:pt x="0" y="377825"/>
                  <a:pt x="0" y="360680"/>
                </a:cubicBezTo>
                <a:close/>
              </a:path>
            </a:pathLst>
          </a:custGeom>
          <a:solidFill>
            <a:srgbClr val="4904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23"/>
          <p:cNvSpPr txBox="1"/>
          <p:nvPr/>
        </p:nvSpPr>
        <p:spPr>
          <a:xfrm>
            <a:off x="1163974" y="855974"/>
            <a:ext cx="1712814" cy="1683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ER DIAGRAM</a:t>
            </a:r>
            <a:endParaRPr/>
          </a:p>
        </p:txBody>
      </p:sp>
      <p:sp>
        <p:nvSpPr>
          <p:cNvPr id="428" name="Google Shape;428;p23"/>
          <p:cNvSpPr txBox="1"/>
          <p:nvPr/>
        </p:nvSpPr>
        <p:spPr>
          <a:xfrm>
            <a:off x="1047950" y="428709"/>
            <a:ext cx="16206000" cy="5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48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527" u="none" cap="none" strike="noStrike">
                <a:solidFill>
                  <a:srgbClr val="F98AC7"/>
                </a:solidFill>
                <a:latin typeface="Lora"/>
                <a:ea typeface="Lora"/>
                <a:cs typeface="Lora"/>
                <a:sym typeface="Lora"/>
              </a:rPr>
              <a:t>ER DIAGRAM</a:t>
            </a:r>
            <a:endParaRPr/>
          </a:p>
        </p:txBody>
      </p:sp>
      <p:sp>
        <p:nvSpPr>
          <p:cNvPr id="429" name="Google Shape;429;p23"/>
          <p:cNvSpPr txBox="1"/>
          <p:nvPr/>
        </p:nvSpPr>
        <p:spPr>
          <a:xfrm>
            <a:off x="590398" y="9218486"/>
            <a:ext cx="17121035" cy="2880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17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1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Figure: Entity-Relationship Diagram — Online Food Ordering System</a:t>
            </a:r>
            <a:endParaRPr/>
          </a:p>
        </p:txBody>
      </p:sp>
      <p:pic>
        <p:nvPicPr>
          <p:cNvPr id="430" name="Google Shape;430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89875" y="1324825"/>
            <a:ext cx="12272552" cy="8181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24"/>
          <p:cNvSpPr/>
          <p:nvPr/>
        </p:nvSpPr>
        <p:spPr>
          <a:xfrm>
            <a:off x="0" y="0"/>
            <a:ext cx="18301811" cy="10295001"/>
          </a:xfrm>
          <a:custGeom>
            <a:rect b="b" l="l" r="r" t="t"/>
            <a:pathLst>
              <a:path extrusionOk="0" h="13726668" w="24402414">
                <a:moveTo>
                  <a:pt x="0" y="0"/>
                </a:moveTo>
                <a:lnTo>
                  <a:pt x="24402414" y="0"/>
                </a:lnTo>
                <a:lnTo>
                  <a:pt x="24402414" y="13726668"/>
                </a:lnTo>
                <a:lnTo>
                  <a:pt x="0" y="13726668"/>
                </a:lnTo>
                <a:close/>
              </a:path>
            </a:pathLst>
          </a:custGeom>
          <a:solidFill>
            <a:srgbClr val="181A24"/>
          </a:solidFill>
          <a:ln>
            <a:noFill/>
          </a:ln>
        </p:spPr>
      </p:sp>
      <p:sp>
        <p:nvSpPr>
          <p:cNvPr id="440" name="Google Shape;440;p24"/>
          <p:cNvSpPr/>
          <p:nvPr/>
        </p:nvSpPr>
        <p:spPr>
          <a:xfrm>
            <a:off x="0" y="0"/>
            <a:ext cx="18301811" cy="10295001"/>
          </a:xfrm>
          <a:custGeom>
            <a:rect b="b" l="l" r="r" t="t"/>
            <a:pathLst>
              <a:path extrusionOk="0" h="13726668" w="24402414">
                <a:moveTo>
                  <a:pt x="0" y="0"/>
                </a:moveTo>
                <a:lnTo>
                  <a:pt x="24402414" y="0"/>
                </a:lnTo>
                <a:lnTo>
                  <a:pt x="24402414" y="13726668"/>
                </a:lnTo>
                <a:lnTo>
                  <a:pt x="0" y="13726668"/>
                </a:lnTo>
                <a:close/>
              </a:path>
            </a:pathLst>
          </a:custGeom>
          <a:solidFill>
            <a:srgbClr val="252833"/>
          </a:solidFill>
          <a:ln>
            <a:noFill/>
          </a:ln>
        </p:spPr>
      </p:sp>
      <p:sp>
        <p:nvSpPr>
          <p:cNvPr id="441" name="Google Shape;441;p24"/>
          <p:cNvSpPr/>
          <p:nvPr/>
        </p:nvSpPr>
        <p:spPr>
          <a:xfrm>
            <a:off x="1047950" y="720442"/>
            <a:ext cx="115824" cy="129065"/>
          </a:xfrm>
          <a:custGeom>
            <a:rect b="b" l="l" r="r" t="t"/>
            <a:pathLst>
              <a:path extrusionOk="0" h="172087" w="154432">
                <a:moveTo>
                  <a:pt x="0" y="13589"/>
                </a:moveTo>
                <a:cubicBezTo>
                  <a:pt x="0" y="6096"/>
                  <a:pt x="6096" y="0"/>
                  <a:pt x="13589" y="0"/>
                </a:cubicBezTo>
                <a:lnTo>
                  <a:pt x="140843" y="0"/>
                </a:lnTo>
                <a:cubicBezTo>
                  <a:pt x="148336" y="0"/>
                  <a:pt x="154432" y="6096"/>
                  <a:pt x="154432" y="13589"/>
                </a:cubicBezTo>
                <a:lnTo>
                  <a:pt x="154432" y="158496"/>
                </a:lnTo>
                <a:cubicBezTo>
                  <a:pt x="154432" y="165989"/>
                  <a:pt x="148336" y="172085"/>
                  <a:pt x="140843" y="172085"/>
                </a:cubicBezTo>
                <a:lnTo>
                  <a:pt x="13589" y="172085"/>
                </a:lnTo>
                <a:cubicBezTo>
                  <a:pt x="6096" y="172212"/>
                  <a:pt x="0" y="166116"/>
                  <a:pt x="0" y="158496"/>
                </a:cubicBezTo>
                <a:close/>
              </a:path>
            </a:pathLst>
          </a:custGeom>
          <a:solidFill>
            <a:srgbClr val="4904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24"/>
          <p:cNvSpPr txBox="1"/>
          <p:nvPr/>
        </p:nvSpPr>
        <p:spPr>
          <a:xfrm>
            <a:off x="1047950" y="851078"/>
            <a:ext cx="16205949" cy="2598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48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6" u="none" cap="none" strike="noStrike">
                <a:solidFill>
                  <a:srgbClr val="F98AC7"/>
                </a:solidFill>
                <a:latin typeface="Lora"/>
                <a:ea typeface="Lora"/>
                <a:cs typeface="Lora"/>
                <a:sym typeface="Lora"/>
              </a:rPr>
              <a:t>DATABASE SCHEMA</a:t>
            </a:r>
            <a:endParaRPr/>
          </a:p>
        </p:txBody>
      </p:sp>
      <p:sp>
        <p:nvSpPr>
          <p:cNvPr descr="preencoded.png" id="443" name="Google Shape;443;p24"/>
          <p:cNvSpPr/>
          <p:nvPr/>
        </p:nvSpPr>
        <p:spPr>
          <a:xfrm>
            <a:off x="1047950" y="1152382"/>
            <a:ext cx="16205949" cy="510883"/>
          </a:xfrm>
          <a:custGeom>
            <a:rect b="b" l="l" r="r" t="t"/>
            <a:pathLst>
              <a:path extrusionOk="0" h="510883" w="16205949">
                <a:moveTo>
                  <a:pt x="0" y="0"/>
                </a:moveTo>
                <a:lnTo>
                  <a:pt x="16205949" y="0"/>
                </a:lnTo>
                <a:lnTo>
                  <a:pt x="16205949" y="510883"/>
                </a:lnTo>
                <a:lnTo>
                  <a:pt x="0" y="51088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252" l="0" r="0" t="-1254"/>
            </a:stretch>
          </a:blipFill>
          <a:ln>
            <a:noFill/>
          </a:ln>
        </p:spPr>
      </p:sp>
      <p:sp>
        <p:nvSpPr>
          <p:cNvPr descr="preencoded.png" id="444" name="Google Shape;444;p24"/>
          <p:cNvSpPr/>
          <p:nvPr/>
        </p:nvSpPr>
        <p:spPr>
          <a:xfrm>
            <a:off x="1163822" y="1343930"/>
            <a:ext cx="127645" cy="127645"/>
          </a:xfrm>
          <a:custGeom>
            <a:rect b="b" l="l" r="r" t="t"/>
            <a:pathLst>
              <a:path extrusionOk="0" h="127645" w="127645">
                <a:moveTo>
                  <a:pt x="0" y="0"/>
                </a:moveTo>
                <a:lnTo>
                  <a:pt x="127644" y="0"/>
                </a:lnTo>
                <a:lnTo>
                  <a:pt x="127644" y="127644"/>
                </a:lnTo>
                <a:lnTo>
                  <a:pt x="0" y="1276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3574" l="0" r="0" t="-3566"/>
            </a:stretch>
          </a:blipFill>
          <a:ln>
            <a:noFill/>
          </a:ln>
        </p:spPr>
      </p:sp>
      <p:sp>
        <p:nvSpPr>
          <p:cNvPr id="445" name="Google Shape;445;p24"/>
          <p:cNvSpPr txBox="1"/>
          <p:nvPr/>
        </p:nvSpPr>
        <p:spPr>
          <a:xfrm>
            <a:off x="1425512" y="1246965"/>
            <a:ext cx="15733805" cy="1252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Customer</a:t>
            </a:r>
            <a:endParaRPr/>
          </a:p>
        </p:txBody>
      </p:sp>
      <p:sp>
        <p:nvSpPr>
          <p:cNvPr id="446" name="Google Shape;446;p24"/>
          <p:cNvSpPr txBox="1"/>
          <p:nvPr/>
        </p:nvSpPr>
        <p:spPr>
          <a:xfrm>
            <a:off x="1425512" y="1398280"/>
            <a:ext cx="15733805" cy="807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PK:</a:t>
            </a:r>
            <a:r>
              <a:rPr b="0" i="0" lang="en-US" sz="60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 customer_id</a:t>
            </a:r>
            <a:endParaRPr/>
          </a:p>
        </p:txBody>
      </p:sp>
      <p:sp>
        <p:nvSpPr>
          <p:cNvPr descr="preencoded.png" id="447" name="Google Shape;447;p24"/>
          <p:cNvSpPr/>
          <p:nvPr/>
        </p:nvSpPr>
        <p:spPr>
          <a:xfrm>
            <a:off x="1047950" y="1690821"/>
            <a:ext cx="16205949" cy="510883"/>
          </a:xfrm>
          <a:custGeom>
            <a:rect b="b" l="l" r="r" t="t"/>
            <a:pathLst>
              <a:path extrusionOk="0" h="510883" w="16205949">
                <a:moveTo>
                  <a:pt x="0" y="0"/>
                </a:moveTo>
                <a:lnTo>
                  <a:pt x="16205949" y="0"/>
                </a:lnTo>
                <a:lnTo>
                  <a:pt x="16205949" y="510883"/>
                </a:lnTo>
                <a:lnTo>
                  <a:pt x="0" y="51088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252" l="0" r="0" t="-1254"/>
            </a:stretch>
          </a:blipFill>
          <a:ln>
            <a:noFill/>
          </a:ln>
        </p:spPr>
      </p:sp>
      <p:sp>
        <p:nvSpPr>
          <p:cNvPr descr="preencoded.png" id="448" name="Google Shape;448;p24"/>
          <p:cNvSpPr/>
          <p:nvPr/>
        </p:nvSpPr>
        <p:spPr>
          <a:xfrm>
            <a:off x="1163822" y="1882359"/>
            <a:ext cx="127645" cy="127645"/>
          </a:xfrm>
          <a:custGeom>
            <a:rect b="b" l="l" r="r" t="t"/>
            <a:pathLst>
              <a:path extrusionOk="0" h="127645" w="127645">
                <a:moveTo>
                  <a:pt x="0" y="0"/>
                </a:moveTo>
                <a:lnTo>
                  <a:pt x="127644" y="0"/>
                </a:lnTo>
                <a:lnTo>
                  <a:pt x="127644" y="127645"/>
                </a:lnTo>
                <a:lnTo>
                  <a:pt x="0" y="12764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-14289" r="-14282" t="0"/>
            </a:stretch>
          </a:blipFill>
          <a:ln>
            <a:noFill/>
          </a:ln>
        </p:spPr>
      </p:sp>
      <p:sp>
        <p:nvSpPr>
          <p:cNvPr id="449" name="Google Shape;449;p24"/>
          <p:cNvSpPr txBox="1"/>
          <p:nvPr/>
        </p:nvSpPr>
        <p:spPr>
          <a:xfrm>
            <a:off x="1425512" y="1785395"/>
            <a:ext cx="15733805" cy="1252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Restaurant</a:t>
            </a:r>
            <a:endParaRPr/>
          </a:p>
        </p:txBody>
      </p:sp>
      <p:sp>
        <p:nvSpPr>
          <p:cNvPr id="450" name="Google Shape;450;p24"/>
          <p:cNvSpPr txBox="1"/>
          <p:nvPr/>
        </p:nvSpPr>
        <p:spPr>
          <a:xfrm>
            <a:off x="1425512" y="1936718"/>
            <a:ext cx="15733805" cy="807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PK:</a:t>
            </a:r>
            <a:r>
              <a:rPr b="0" i="0" lang="en-US" sz="60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 restaurant_id</a:t>
            </a:r>
            <a:endParaRPr/>
          </a:p>
        </p:txBody>
      </p:sp>
      <p:sp>
        <p:nvSpPr>
          <p:cNvPr descr="preencoded.png" id="451" name="Google Shape;451;p24"/>
          <p:cNvSpPr/>
          <p:nvPr/>
        </p:nvSpPr>
        <p:spPr>
          <a:xfrm>
            <a:off x="1047950" y="2229250"/>
            <a:ext cx="16205949" cy="510883"/>
          </a:xfrm>
          <a:custGeom>
            <a:rect b="b" l="l" r="r" t="t"/>
            <a:pathLst>
              <a:path extrusionOk="0" h="510883" w="16205949">
                <a:moveTo>
                  <a:pt x="0" y="0"/>
                </a:moveTo>
                <a:lnTo>
                  <a:pt x="16205949" y="0"/>
                </a:lnTo>
                <a:lnTo>
                  <a:pt x="16205949" y="510883"/>
                </a:lnTo>
                <a:lnTo>
                  <a:pt x="0" y="51088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252" l="0" r="0" t="-1254"/>
            </a:stretch>
          </a:blipFill>
          <a:ln>
            <a:noFill/>
          </a:ln>
        </p:spPr>
      </p:sp>
      <p:sp>
        <p:nvSpPr>
          <p:cNvPr descr="preencoded.png" id="452" name="Google Shape;452;p24"/>
          <p:cNvSpPr/>
          <p:nvPr/>
        </p:nvSpPr>
        <p:spPr>
          <a:xfrm>
            <a:off x="1163822" y="2420798"/>
            <a:ext cx="127645" cy="127645"/>
          </a:xfrm>
          <a:custGeom>
            <a:rect b="b" l="l" r="r" t="t"/>
            <a:pathLst>
              <a:path extrusionOk="0" h="127645" w="127645">
                <a:moveTo>
                  <a:pt x="0" y="0"/>
                </a:moveTo>
                <a:lnTo>
                  <a:pt x="127644" y="0"/>
                </a:lnTo>
                <a:lnTo>
                  <a:pt x="127644" y="127644"/>
                </a:lnTo>
                <a:lnTo>
                  <a:pt x="0" y="1276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-3574" l="0" r="0" t="-3566"/>
            </a:stretch>
          </a:blipFill>
          <a:ln>
            <a:noFill/>
          </a:ln>
        </p:spPr>
      </p:sp>
      <p:sp>
        <p:nvSpPr>
          <p:cNvPr id="453" name="Google Shape;453;p24"/>
          <p:cNvSpPr txBox="1"/>
          <p:nvPr/>
        </p:nvSpPr>
        <p:spPr>
          <a:xfrm>
            <a:off x="1425512" y="2323833"/>
            <a:ext cx="15733805" cy="1252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Food_Item</a:t>
            </a:r>
            <a:endParaRPr/>
          </a:p>
        </p:txBody>
      </p:sp>
      <p:sp>
        <p:nvSpPr>
          <p:cNvPr id="454" name="Google Shape;454;p24"/>
          <p:cNvSpPr txBox="1"/>
          <p:nvPr/>
        </p:nvSpPr>
        <p:spPr>
          <a:xfrm>
            <a:off x="1425512" y="2475147"/>
            <a:ext cx="15733805" cy="807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PK:</a:t>
            </a:r>
            <a:r>
              <a:rPr b="0" i="0" lang="en-US" sz="60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 food_id  |  </a:t>
            </a:r>
            <a:r>
              <a:rPr b="1" i="0" lang="en-US" sz="60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FK:</a:t>
            </a:r>
            <a:r>
              <a:rPr b="0" i="0" lang="en-US" sz="60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 restaurant_id</a:t>
            </a:r>
            <a:endParaRPr/>
          </a:p>
        </p:txBody>
      </p:sp>
      <p:sp>
        <p:nvSpPr>
          <p:cNvPr descr="preencoded.png" id="455" name="Google Shape;455;p24"/>
          <p:cNvSpPr/>
          <p:nvPr/>
        </p:nvSpPr>
        <p:spPr>
          <a:xfrm>
            <a:off x="1047950" y="2767689"/>
            <a:ext cx="16205949" cy="510883"/>
          </a:xfrm>
          <a:custGeom>
            <a:rect b="b" l="l" r="r" t="t"/>
            <a:pathLst>
              <a:path extrusionOk="0" h="510883" w="16205949">
                <a:moveTo>
                  <a:pt x="0" y="0"/>
                </a:moveTo>
                <a:lnTo>
                  <a:pt x="16205949" y="0"/>
                </a:lnTo>
                <a:lnTo>
                  <a:pt x="16205949" y="510883"/>
                </a:lnTo>
                <a:lnTo>
                  <a:pt x="0" y="51088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252" l="0" r="0" t="-1254"/>
            </a:stretch>
          </a:blipFill>
          <a:ln>
            <a:noFill/>
          </a:ln>
        </p:spPr>
      </p:sp>
      <p:sp>
        <p:nvSpPr>
          <p:cNvPr descr="preencoded.png" id="456" name="Google Shape;456;p24"/>
          <p:cNvSpPr/>
          <p:nvPr/>
        </p:nvSpPr>
        <p:spPr>
          <a:xfrm>
            <a:off x="1163822" y="2959227"/>
            <a:ext cx="127645" cy="127645"/>
          </a:xfrm>
          <a:custGeom>
            <a:rect b="b" l="l" r="r" t="t"/>
            <a:pathLst>
              <a:path extrusionOk="0" h="127645" w="127645">
                <a:moveTo>
                  <a:pt x="0" y="0"/>
                </a:moveTo>
                <a:lnTo>
                  <a:pt x="127644" y="0"/>
                </a:lnTo>
                <a:lnTo>
                  <a:pt x="127644" y="127645"/>
                </a:lnTo>
                <a:lnTo>
                  <a:pt x="0" y="12764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-7142" r="-7142" t="0"/>
            </a:stretch>
          </a:blipFill>
          <a:ln>
            <a:noFill/>
          </a:ln>
        </p:spPr>
      </p:sp>
      <p:sp>
        <p:nvSpPr>
          <p:cNvPr id="457" name="Google Shape;457;p24"/>
          <p:cNvSpPr txBox="1"/>
          <p:nvPr/>
        </p:nvSpPr>
        <p:spPr>
          <a:xfrm>
            <a:off x="1425512" y="2862262"/>
            <a:ext cx="15733805" cy="1252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Orders</a:t>
            </a:r>
            <a:endParaRPr/>
          </a:p>
        </p:txBody>
      </p:sp>
      <p:sp>
        <p:nvSpPr>
          <p:cNvPr id="458" name="Google Shape;458;p24"/>
          <p:cNvSpPr txBox="1"/>
          <p:nvPr/>
        </p:nvSpPr>
        <p:spPr>
          <a:xfrm>
            <a:off x="1425512" y="3013586"/>
            <a:ext cx="15733805" cy="807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PK:</a:t>
            </a:r>
            <a:r>
              <a:rPr b="0" i="0" lang="en-US" sz="60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 order_id  |  </a:t>
            </a:r>
            <a:r>
              <a:rPr b="1" i="0" lang="en-US" sz="60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FK:</a:t>
            </a:r>
            <a:r>
              <a:rPr b="0" i="0" lang="en-US" sz="60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 customer_id, restaurant_id</a:t>
            </a:r>
            <a:endParaRPr/>
          </a:p>
        </p:txBody>
      </p:sp>
      <p:sp>
        <p:nvSpPr>
          <p:cNvPr descr="preencoded.png" id="459" name="Google Shape;459;p24"/>
          <p:cNvSpPr/>
          <p:nvPr/>
        </p:nvSpPr>
        <p:spPr>
          <a:xfrm>
            <a:off x="1047950" y="3306118"/>
            <a:ext cx="16205949" cy="510883"/>
          </a:xfrm>
          <a:custGeom>
            <a:rect b="b" l="l" r="r" t="t"/>
            <a:pathLst>
              <a:path extrusionOk="0" h="510883" w="16205949">
                <a:moveTo>
                  <a:pt x="0" y="0"/>
                </a:moveTo>
                <a:lnTo>
                  <a:pt x="16205949" y="0"/>
                </a:lnTo>
                <a:lnTo>
                  <a:pt x="16205949" y="510883"/>
                </a:lnTo>
                <a:lnTo>
                  <a:pt x="0" y="51088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252" l="0" r="0" t="-1254"/>
            </a:stretch>
          </a:blipFill>
          <a:ln>
            <a:noFill/>
          </a:ln>
        </p:spPr>
      </p:sp>
      <p:sp>
        <p:nvSpPr>
          <p:cNvPr descr="preencoded.png" id="460" name="Google Shape;460;p24"/>
          <p:cNvSpPr/>
          <p:nvPr/>
        </p:nvSpPr>
        <p:spPr>
          <a:xfrm>
            <a:off x="1163822" y="3497666"/>
            <a:ext cx="127645" cy="127645"/>
          </a:xfrm>
          <a:custGeom>
            <a:rect b="b" l="l" r="r" t="t"/>
            <a:pathLst>
              <a:path extrusionOk="0" h="127645" w="127645">
                <a:moveTo>
                  <a:pt x="0" y="0"/>
                </a:moveTo>
                <a:lnTo>
                  <a:pt x="127644" y="0"/>
                </a:lnTo>
                <a:lnTo>
                  <a:pt x="127644" y="127644"/>
                </a:lnTo>
                <a:lnTo>
                  <a:pt x="0" y="1276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-10708" l="0" r="0" t="-10716"/>
            </a:stretch>
          </a:blipFill>
          <a:ln>
            <a:noFill/>
          </a:ln>
        </p:spPr>
      </p:sp>
      <p:sp>
        <p:nvSpPr>
          <p:cNvPr id="461" name="Google Shape;461;p24"/>
          <p:cNvSpPr txBox="1"/>
          <p:nvPr/>
        </p:nvSpPr>
        <p:spPr>
          <a:xfrm>
            <a:off x="1425512" y="3400701"/>
            <a:ext cx="15733805" cy="1252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Order_Detail</a:t>
            </a:r>
            <a:endParaRPr/>
          </a:p>
        </p:txBody>
      </p:sp>
      <p:sp>
        <p:nvSpPr>
          <p:cNvPr id="462" name="Google Shape;462;p24"/>
          <p:cNvSpPr txBox="1"/>
          <p:nvPr/>
        </p:nvSpPr>
        <p:spPr>
          <a:xfrm>
            <a:off x="1425512" y="3552025"/>
            <a:ext cx="15733805" cy="807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PK:</a:t>
            </a:r>
            <a:r>
              <a:rPr b="0" i="0" lang="en-US" sz="60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 order_detail_id  |  </a:t>
            </a:r>
            <a:r>
              <a:rPr b="1" i="0" lang="en-US" sz="60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FK:</a:t>
            </a:r>
            <a:r>
              <a:rPr b="0" i="0" lang="en-US" sz="60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 order_id, food_id</a:t>
            </a:r>
            <a:endParaRPr/>
          </a:p>
        </p:txBody>
      </p:sp>
      <p:sp>
        <p:nvSpPr>
          <p:cNvPr descr="preencoded.png" id="463" name="Google Shape;463;p24"/>
          <p:cNvSpPr/>
          <p:nvPr/>
        </p:nvSpPr>
        <p:spPr>
          <a:xfrm>
            <a:off x="1047950" y="3844557"/>
            <a:ext cx="16205949" cy="510883"/>
          </a:xfrm>
          <a:custGeom>
            <a:rect b="b" l="l" r="r" t="t"/>
            <a:pathLst>
              <a:path extrusionOk="0" h="510883" w="16205949">
                <a:moveTo>
                  <a:pt x="0" y="0"/>
                </a:moveTo>
                <a:lnTo>
                  <a:pt x="16205949" y="0"/>
                </a:lnTo>
                <a:lnTo>
                  <a:pt x="16205949" y="510883"/>
                </a:lnTo>
                <a:lnTo>
                  <a:pt x="0" y="51088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252" l="0" r="0" t="-1254"/>
            </a:stretch>
          </a:blipFill>
          <a:ln>
            <a:noFill/>
          </a:ln>
        </p:spPr>
      </p:sp>
      <p:sp>
        <p:nvSpPr>
          <p:cNvPr descr="preencoded.png" id="464" name="Google Shape;464;p24"/>
          <p:cNvSpPr/>
          <p:nvPr/>
        </p:nvSpPr>
        <p:spPr>
          <a:xfrm>
            <a:off x="1163822" y="4036095"/>
            <a:ext cx="127645" cy="127645"/>
          </a:xfrm>
          <a:custGeom>
            <a:rect b="b" l="l" r="r" t="t"/>
            <a:pathLst>
              <a:path extrusionOk="0" h="127645" w="127645">
                <a:moveTo>
                  <a:pt x="0" y="0"/>
                </a:moveTo>
                <a:lnTo>
                  <a:pt x="127644" y="0"/>
                </a:lnTo>
                <a:lnTo>
                  <a:pt x="127644" y="127644"/>
                </a:lnTo>
                <a:lnTo>
                  <a:pt x="0" y="1276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-17855" r="-17855" t="0"/>
            </a:stretch>
          </a:blipFill>
          <a:ln>
            <a:noFill/>
          </a:ln>
        </p:spPr>
      </p:sp>
      <p:sp>
        <p:nvSpPr>
          <p:cNvPr id="465" name="Google Shape;465;p24"/>
          <p:cNvSpPr txBox="1"/>
          <p:nvPr/>
        </p:nvSpPr>
        <p:spPr>
          <a:xfrm>
            <a:off x="1425512" y="3939130"/>
            <a:ext cx="15733805" cy="1252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Payment</a:t>
            </a:r>
            <a:endParaRPr/>
          </a:p>
        </p:txBody>
      </p:sp>
      <p:sp>
        <p:nvSpPr>
          <p:cNvPr id="466" name="Google Shape;466;p24"/>
          <p:cNvSpPr txBox="1"/>
          <p:nvPr/>
        </p:nvSpPr>
        <p:spPr>
          <a:xfrm>
            <a:off x="1425512" y="4090454"/>
            <a:ext cx="15733805" cy="807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PK:</a:t>
            </a:r>
            <a:r>
              <a:rPr b="0" i="0" lang="en-US" sz="60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 payment_id  |  </a:t>
            </a:r>
            <a:r>
              <a:rPr b="1" i="0" lang="en-US" sz="60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FK:</a:t>
            </a:r>
            <a:r>
              <a:rPr b="0" i="0" lang="en-US" sz="60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 order_id</a:t>
            </a:r>
            <a:endParaRPr/>
          </a:p>
        </p:txBody>
      </p:sp>
      <p:sp>
        <p:nvSpPr>
          <p:cNvPr descr="preencoded.png" id="467" name="Google Shape;467;p24"/>
          <p:cNvSpPr/>
          <p:nvPr/>
        </p:nvSpPr>
        <p:spPr>
          <a:xfrm>
            <a:off x="1047950" y="4386567"/>
            <a:ext cx="10533793" cy="5925312"/>
          </a:xfrm>
          <a:custGeom>
            <a:rect b="b" l="l" r="r" t="t"/>
            <a:pathLst>
              <a:path extrusionOk="0" h="7900416" w="14045057">
                <a:moveTo>
                  <a:pt x="0" y="0"/>
                </a:moveTo>
                <a:lnTo>
                  <a:pt x="14045057" y="0"/>
                </a:lnTo>
                <a:lnTo>
                  <a:pt x="14045057" y="7900416"/>
                </a:lnTo>
                <a:lnTo>
                  <a:pt x="0" y="790041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-10" r="-1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25"/>
          <p:cNvSpPr/>
          <p:nvPr/>
        </p:nvSpPr>
        <p:spPr>
          <a:xfrm>
            <a:off x="0" y="0"/>
            <a:ext cx="18301811" cy="10295001"/>
          </a:xfrm>
          <a:custGeom>
            <a:rect b="b" l="l" r="r" t="t"/>
            <a:pathLst>
              <a:path extrusionOk="0" h="13726668" w="24402414">
                <a:moveTo>
                  <a:pt x="0" y="0"/>
                </a:moveTo>
                <a:lnTo>
                  <a:pt x="24402414" y="0"/>
                </a:lnTo>
                <a:lnTo>
                  <a:pt x="24402414" y="13726668"/>
                </a:lnTo>
                <a:lnTo>
                  <a:pt x="0" y="13726668"/>
                </a:lnTo>
                <a:close/>
              </a:path>
            </a:pathLst>
          </a:custGeom>
          <a:solidFill>
            <a:srgbClr val="181A24"/>
          </a:solidFill>
          <a:ln>
            <a:noFill/>
          </a:ln>
        </p:spPr>
      </p:sp>
      <p:sp>
        <p:nvSpPr>
          <p:cNvPr id="477" name="Google Shape;477;p25"/>
          <p:cNvSpPr/>
          <p:nvPr/>
        </p:nvSpPr>
        <p:spPr>
          <a:xfrm>
            <a:off x="0" y="0"/>
            <a:ext cx="18301811" cy="10295001"/>
          </a:xfrm>
          <a:custGeom>
            <a:rect b="b" l="l" r="r" t="t"/>
            <a:pathLst>
              <a:path extrusionOk="0" h="13726668" w="24402414">
                <a:moveTo>
                  <a:pt x="0" y="0"/>
                </a:moveTo>
                <a:lnTo>
                  <a:pt x="24402414" y="0"/>
                </a:lnTo>
                <a:lnTo>
                  <a:pt x="24402414" y="13726668"/>
                </a:lnTo>
                <a:lnTo>
                  <a:pt x="0" y="13726668"/>
                </a:lnTo>
                <a:close/>
              </a:path>
            </a:pathLst>
          </a:custGeom>
          <a:solidFill>
            <a:srgbClr val="252833"/>
          </a:solidFill>
          <a:ln>
            <a:noFill/>
          </a:ln>
        </p:spPr>
      </p:sp>
      <p:sp>
        <p:nvSpPr>
          <p:cNvPr id="478" name="Google Shape;478;p25"/>
          <p:cNvSpPr txBox="1"/>
          <p:nvPr/>
        </p:nvSpPr>
        <p:spPr>
          <a:xfrm>
            <a:off x="1047950" y="720442"/>
            <a:ext cx="16205949" cy="3853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8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1" u="none" cap="none" strike="noStrike">
                <a:solidFill>
                  <a:srgbClr val="F98AC7"/>
                </a:solidFill>
                <a:latin typeface="Lora"/>
                <a:ea typeface="Lora"/>
                <a:cs typeface="Lora"/>
                <a:sym typeface="Lora"/>
              </a:rPr>
              <a:t>CUSTOMER &amp; RESTAURANT TABLES</a:t>
            </a:r>
            <a:endParaRPr/>
          </a:p>
        </p:txBody>
      </p:sp>
      <p:sp>
        <p:nvSpPr>
          <p:cNvPr id="479" name="Google Shape;479;p25"/>
          <p:cNvSpPr txBox="1"/>
          <p:nvPr/>
        </p:nvSpPr>
        <p:spPr>
          <a:xfrm>
            <a:off x="1047950" y="1227163"/>
            <a:ext cx="17121035" cy="1668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Premium modern overview of the two core tables in the food-tech database.</a:t>
            </a:r>
            <a:endParaRPr/>
          </a:p>
        </p:txBody>
      </p:sp>
      <p:sp>
        <p:nvSpPr>
          <p:cNvPr descr="preencoded.png" id="480" name="Google Shape;480;p25"/>
          <p:cNvSpPr/>
          <p:nvPr/>
        </p:nvSpPr>
        <p:spPr>
          <a:xfrm>
            <a:off x="1047950" y="1541126"/>
            <a:ext cx="7943164" cy="931355"/>
          </a:xfrm>
          <a:custGeom>
            <a:rect b="b" l="l" r="r" t="t"/>
            <a:pathLst>
              <a:path extrusionOk="0" h="931355" w="7943164">
                <a:moveTo>
                  <a:pt x="0" y="0"/>
                </a:moveTo>
                <a:lnTo>
                  <a:pt x="7943164" y="0"/>
                </a:lnTo>
                <a:lnTo>
                  <a:pt x="7943164" y="931354"/>
                </a:lnTo>
                <a:lnTo>
                  <a:pt x="0" y="9313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07" l="0" r="0" t="-108"/>
            </a:stretch>
          </a:blipFill>
          <a:ln>
            <a:noFill/>
          </a:ln>
        </p:spPr>
      </p:sp>
      <p:sp>
        <p:nvSpPr>
          <p:cNvPr descr="preencoded.png" id="481" name="Google Shape;481;p25"/>
          <p:cNvSpPr/>
          <p:nvPr/>
        </p:nvSpPr>
        <p:spPr>
          <a:xfrm>
            <a:off x="1230697" y="1908572"/>
            <a:ext cx="196405" cy="196501"/>
          </a:xfrm>
          <a:custGeom>
            <a:rect b="b" l="l" r="r" t="t"/>
            <a:pathLst>
              <a:path extrusionOk="0" h="262001" w="261874">
                <a:moveTo>
                  <a:pt x="0" y="0"/>
                </a:moveTo>
                <a:lnTo>
                  <a:pt x="261874" y="0"/>
                </a:lnTo>
                <a:lnTo>
                  <a:pt x="261874" y="262001"/>
                </a:lnTo>
                <a:lnTo>
                  <a:pt x="0" y="2620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19" l="-1" r="-27" t="0"/>
            </a:stretch>
          </a:blipFill>
          <a:ln>
            <a:noFill/>
          </a:ln>
        </p:spPr>
      </p:sp>
      <p:sp>
        <p:nvSpPr>
          <p:cNvPr id="482" name="Google Shape;482;p25"/>
          <p:cNvSpPr txBox="1"/>
          <p:nvPr/>
        </p:nvSpPr>
        <p:spPr>
          <a:xfrm>
            <a:off x="1656369" y="1700641"/>
            <a:ext cx="7184755" cy="1830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8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Customer Table</a:t>
            </a:r>
            <a:endParaRPr/>
          </a:p>
        </p:txBody>
      </p:sp>
      <p:sp>
        <p:nvSpPr>
          <p:cNvPr id="483" name="Google Shape;483;p25"/>
          <p:cNvSpPr txBox="1"/>
          <p:nvPr/>
        </p:nvSpPr>
        <p:spPr>
          <a:xfrm>
            <a:off x="1656369" y="1939566"/>
            <a:ext cx="7184755" cy="3829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Columns:</a:t>
            </a:r>
            <a:r>
              <a:rPr b="0" i="0" lang="en-US" sz="975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 customer_id, first_name, last_name, email, phone, password, address, city, pincode, registration_date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75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Figure: Customer Table – Sample Records</a:t>
            </a:r>
            <a:endParaRPr/>
          </a:p>
        </p:txBody>
      </p:sp>
      <p:sp>
        <p:nvSpPr>
          <p:cNvPr descr="preencoded.png" id="484" name="Google Shape;484;p25"/>
          <p:cNvSpPr/>
          <p:nvPr/>
        </p:nvSpPr>
        <p:spPr>
          <a:xfrm>
            <a:off x="9320270" y="1541126"/>
            <a:ext cx="7943164" cy="931355"/>
          </a:xfrm>
          <a:custGeom>
            <a:rect b="b" l="l" r="r" t="t"/>
            <a:pathLst>
              <a:path extrusionOk="0" h="931355" w="7943164">
                <a:moveTo>
                  <a:pt x="0" y="0"/>
                </a:moveTo>
                <a:lnTo>
                  <a:pt x="7943164" y="0"/>
                </a:lnTo>
                <a:lnTo>
                  <a:pt x="7943164" y="931354"/>
                </a:lnTo>
                <a:lnTo>
                  <a:pt x="0" y="9313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07" l="0" r="0" t="-108"/>
            </a:stretch>
          </a:blipFill>
          <a:ln>
            <a:noFill/>
          </a:ln>
        </p:spPr>
      </p:sp>
      <p:sp>
        <p:nvSpPr>
          <p:cNvPr descr="preencoded.png" id="485" name="Google Shape;485;p25"/>
          <p:cNvSpPr/>
          <p:nvPr/>
        </p:nvSpPr>
        <p:spPr>
          <a:xfrm>
            <a:off x="9503016" y="1908572"/>
            <a:ext cx="196405" cy="196501"/>
          </a:xfrm>
          <a:custGeom>
            <a:rect b="b" l="l" r="r" t="t"/>
            <a:pathLst>
              <a:path extrusionOk="0" h="262001" w="261874">
                <a:moveTo>
                  <a:pt x="0" y="0"/>
                </a:moveTo>
                <a:lnTo>
                  <a:pt x="261874" y="0"/>
                </a:lnTo>
                <a:lnTo>
                  <a:pt x="261874" y="262001"/>
                </a:lnTo>
                <a:lnTo>
                  <a:pt x="0" y="2620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19" l="-1" r="-27" t="0"/>
            </a:stretch>
          </a:blipFill>
          <a:ln>
            <a:noFill/>
          </a:ln>
        </p:spPr>
      </p:sp>
      <p:sp>
        <p:nvSpPr>
          <p:cNvPr id="486" name="Google Shape;486;p25"/>
          <p:cNvSpPr txBox="1"/>
          <p:nvPr/>
        </p:nvSpPr>
        <p:spPr>
          <a:xfrm>
            <a:off x="9928689" y="1700641"/>
            <a:ext cx="7184755" cy="1830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8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Restaurant Table</a:t>
            </a:r>
            <a:endParaRPr/>
          </a:p>
        </p:txBody>
      </p:sp>
      <p:sp>
        <p:nvSpPr>
          <p:cNvPr id="487" name="Google Shape;487;p25"/>
          <p:cNvSpPr txBox="1"/>
          <p:nvPr/>
        </p:nvSpPr>
        <p:spPr>
          <a:xfrm>
            <a:off x="9928689" y="1939566"/>
            <a:ext cx="7184755" cy="3829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Columns:</a:t>
            </a:r>
            <a:r>
              <a:rPr b="0" i="0" lang="en-US" sz="975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 restaurant_id, restaurant_name, owner_name, phone_no, email, address, city, cuisine_type, rating, opening_time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75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Figure: Restaurant Table – Sample Records</a:t>
            </a:r>
            <a:endParaRPr/>
          </a:p>
        </p:txBody>
      </p:sp>
      <p:sp>
        <p:nvSpPr>
          <p:cNvPr descr="preencoded.png" id="488" name="Google Shape;488;p25"/>
          <p:cNvSpPr/>
          <p:nvPr/>
        </p:nvSpPr>
        <p:spPr>
          <a:xfrm>
            <a:off x="1047950" y="2619632"/>
            <a:ext cx="14631924" cy="5967318"/>
          </a:xfrm>
          <a:custGeom>
            <a:rect b="b" l="l" r="r" t="t"/>
            <a:pathLst>
              <a:path extrusionOk="0" h="7956423" w="19509232">
                <a:moveTo>
                  <a:pt x="0" y="0"/>
                </a:moveTo>
                <a:lnTo>
                  <a:pt x="19509232" y="0"/>
                </a:lnTo>
                <a:lnTo>
                  <a:pt x="19509232" y="7956423"/>
                </a:lnTo>
                <a:lnTo>
                  <a:pt x="0" y="79564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-1" r="-1" t="0"/>
            </a:stretch>
          </a:blipFill>
          <a:ln>
            <a:noFill/>
          </a:ln>
        </p:spPr>
      </p:sp>
      <p:sp>
        <p:nvSpPr>
          <p:cNvPr descr="preencoded.png" id="489" name="Google Shape;489;p25"/>
          <p:cNvSpPr/>
          <p:nvPr/>
        </p:nvSpPr>
        <p:spPr>
          <a:xfrm>
            <a:off x="1047950" y="8660530"/>
            <a:ext cx="14631924" cy="5929217"/>
          </a:xfrm>
          <a:custGeom>
            <a:rect b="b" l="l" r="r" t="t"/>
            <a:pathLst>
              <a:path extrusionOk="0" h="7905623" w="19509232">
                <a:moveTo>
                  <a:pt x="0" y="0"/>
                </a:moveTo>
                <a:lnTo>
                  <a:pt x="19509232" y="0"/>
                </a:lnTo>
                <a:lnTo>
                  <a:pt x="19509232" y="7905623"/>
                </a:lnTo>
                <a:lnTo>
                  <a:pt x="0" y="79056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-1" r="-1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26"/>
          <p:cNvSpPr/>
          <p:nvPr/>
        </p:nvSpPr>
        <p:spPr>
          <a:xfrm>
            <a:off x="0" y="0"/>
            <a:ext cx="18301811" cy="10295001"/>
          </a:xfrm>
          <a:custGeom>
            <a:rect b="b" l="l" r="r" t="t"/>
            <a:pathLst>
              <a:path extrusionOk="0" h="13726668" w="24402414">
                <a:moveTo>
                  <a:pt x="0" y="0"/>
                </a:moveTo>
                <a:lnTo>
                  <a:pt x="24402414" y="0"/>
                </a:lnTo>
                <a:lnTo>
                  <a:pt x="24402414" y="13726668"/>
                </a:lnTo>
                <a:lnTo>
                  <a:pt x="0" y="13726668"/>
                </a:lnTo>
                <a:close/>
              </a:path>
            </a:pathLst>
          </a:custGeom>
          <a:solidFill>
            <a:srgbClr val="181A24"/>
          </a:solidFill>
          <a:ln>
            <a:noFill/>
          </a:ln>
        </p:spPr>
      </p:sp>
      <p:sp>
        <p:nvSpPr>
          <p:cNvPr id="499" name="Google Shape;499;p26"/>
          <p:cNvSpPr/>
          <p:nvPr/>
        </p:nvSpPr>
        <p:spPr>
          <a:xfrm>
            <a:off x="0" y="0"/>
            <a:ext cx="18301811" cy="10295001"/>
          </a:xfrm>
          <a:custGeom>
            <a:rect b="b" l="l" r="r" t="t"/>
            <a:pathLst>
              <a:path extrusionOk="0" h="13726668" w="24402414">
                <a:moveTo>
                  <a:pt x="0" y="0"/>
                </a:moveTo>
                <a:lnTo>
                  <a:pt x="24402414" y="0"/>
                </a:lnTo>
                <a:lnTo>
                  <a:pt x="24402414" y="13726668"/>
                </a:lnTo>
                <a:lnTo>
                  <a:pt x="0" y="13726668"/>
                </a:lnTo>
                <a:close/>
              </a:path>
            </a:pathLst>
          </a:custGeom>
          <a:solidFill>
            <a:srgbClr val="252833"/>
          </a:solidFill>
          <a:ln>
            <a:noFill/>
          </a:ln>
        </p:spPr>
      </p:sp>
      <p:sp>
        <p:nvSpPr>
          <p:cNvPr id="500" name="Google Shape;500;p26"/>
          <p:cNvSpPr/>
          <p:nvPr/>
        </p:nvSpPr>
        <p:spPr>
          <a:xfrm>
            <a:off x="1047950" y="839448"/>
            <a:ext cx="1944434" cy="385667"/>
          </a:xfrm>
          <a:custGeom>
            <a:rect b="b" l="l" r="r" t="t"/>
            <a:pathLst>
              <a:path extrusionOk="0" h="514223" w="2592578">
                <a:moveTo>
                  <a:pt x="0" y="40640"/>
                </a:moveTo>
                <a:cubicBezTo>
                  <a:pt x="0" y="18161"/>
                  <a:pt x="18161" y="0"/>
                  <a:pt x="40640" y="0"/>
                </a:cubicBezTo>
                <a:lnTo>
                  <a:pt x="2551938" y="0"/>
                </a:lnTo>
                <a:cubicBezTo>
                  <a:pt x="2574417" y="0"/>
                  <a:pt x="2592578" y="18161"/>
                  <a:pt x="2592578" y="40640"/>
                </a:cubicBezTo>
                <a:lnTo>
                  <a:pt x="2592578" y="473583"/>
                </a:lnTo>
                <a:cubicBezTo>
                  <a:pt x="2592578" y="496062"/>
                  <a:pt x="2574417" y="514223"/>
                  <a:pt x="2551938" y="514223"/>
                </a:cubicBezTo>
                <a:lnTo>
                  <a:pt x="40640" y="514223"/>
                </a:lnTo>
                <a:cubicBezTo>
                  <a:pt x="18161" y="514223"/>
                  <a:pt x="0" y="496062"/>
                  <a:pt x="0" y="473583"/>
                </a:cubicBezTo>
                <a:close/>
              </a:path>
            </a:pathLst>
          </a:custGeom>
          <a:solidFill>
            <a:srgbClr val="4904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26"/>
          <p:cNvSpPr txBox="1"/>
          <p:nvPr/>
        </p:nvSpPr>
        <p:spPr>
          <a:xfrm>
            <a:off x="1200169" y="925087"/>
            <a:ext cx="2555081" cy="2238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1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6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DATABASE SCHEMA</a:t>
            </a:r>
            <a:endParaRPr/>
          </a:p>
        </p:txBody>
      </p:sp>
      <p:sp>
        <p:nvSpPr>
          <p:cNvPr id="502" name="Google Shape;502;p26"/>
          <p:cNvSpPr/>
          <p:nvPr/>
        </p:nvSpPr>
        <p:spPr>
          <a:xfrm>
            <a:off x="3114504" y="834685"/>
            <a:ext cx="2071688" cy="395192"/>
          </a:xfrm>
          <a:custGeom>
            <a:rect b="b" l="l" r="r" t="t"/>
            <a:pathLst>
              <a:path extrusionOk="0" h="526923" w="2762250">
                <a:moveTo>
                  <a:pt x="0" y="41656"/>
                </a:moveTo>
                <a:cubicBezTo>
                  <a:pt x="0" y="18669"/>
                  <a:pt x="18669" y="0"/>
                  <a:pt x="41656" y="0"/>
                </a:cubicBezTo>
                <a:lnTo>
                  <a:pt x="2720594" y="0"/>
                </a:lnTo>
                <a:cubicBezTo>
                  <a:pt x="2743581" y="0"/>
                  <a:pt x="2762250" y="18669"/>
                  <a:pt x="2762250" y="41656"/>
                </a:cubicBezTo>
                <a:lnTo>
                  <a:pt x="2762250" y="485267"/>
                </a:lnTo>
                <a:cubicBezTo>
                  <a:pt x="2762250" y="508254"/>
                  <a:pt x="2743581" y="526923"/>
                  <a:pt x="2720594" y="526923"/>
                </a:cubicBezTo>
                <a:lnTo>
                  <a:pt x="41656" y="526923"/>
                </a:lnTo>
                <a:cubicBezTo>
                  <a:pt x="18669" y="526923"/>
                  <a:pt x="0" y="508254"/>
                  <a:pt x="0" y="485267"/>
                </a:cubicBezTo>
                <a:close/>
              </a:path>
            </a:pathLst>
          </a:custGeom>
          <a:blipFill rotWithShape="1">
            <a:blip r:embed="rId3">
              <a:alphaModFix amt="0"/>
            </a:blip>
            <a:stretch>
              <a:fillRect b="-52135" l="0" r="3" t="-52147"/>
            </a:stretch>
          </a:blipFill>
          <a:ln cap="sq" cmpd="sng" w="9525">
            <a:solidFill>
              <a:srgbClr val="F98AC7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26"/>
          <p:cNvSpPr txBox="1"/>
          <p:nvPr/>
        </p:nvSpPr>
        <p:spPr>
          <a:xfrm>
            <a:off x="3271485" y="925087"/>
            <a:ext cx="2672744" cy="2238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1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6" u="none" cap="none" strike="noStrike">
                <a:solidFill>
                  <a:srgbClr val="F98AC7"/>
                </a:solidFill>
                <a:latin typeface="Source Sans 3"/>
                <a:ea typeface="Source Sans 3"/>
                <a:cs typeface="Source Sans 3"/>
                <a:sym typeface="Source Sans 3"/>
              </a:rPr>
              <a:t>FOOD MANAGEMENT</a:t>
            </a:r>
            <a:endParaRPr/>
          </a:p>
        </p:txBody>
      </p:sp>
      <p:sp>
        <p:nvSpPr>
          <p:cNvPr id="504" name="Google Shape;504;p26"/>
          <p:cNvSpPr txBox="1"/>
          <p:nvPr/>
        </p:nvSpPr>
        <p:spPr>
          <a:xfrm>
            <a:off x="1047950" y="1294800"/>
            <a:ext cx="16205949" cy="7750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8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653" u="none" cap="none" strike="noStrike">
                <a:solidFill>
                  <a:srgbClr val="D96B3B"/>
                </a:solidFill>
                <a:latin typeface="Lora"/>
                <a:ea typeface="Lora"/>
                <a:cs typeface="Lora"/>
                <a:sym typeface="Lora"/>
              </a:rPr>
              <a:t>FOOD_ITEM TABLE</a:t>
            </a:r>
            <a:endParaRPr/>
          </a:p>
        </p:txBody>
      </p:sp>
      <p:sp>
        <p:nvSpPr>
          <p:cNvPr id="505" name="Google Shape;505;p26"/>
          <p:cNvSpPr txBox="1"/>
          <p:nvPr/>
        </p:nvSpPr>
        <p:spPr>
          <a:xfrm>
            <a:off x="1047950" y="2362467"/>
            <a:ext cx="17121035" cy="475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72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1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Columns:</a:t>
            </a:r>
            <a:r>
              <a:rPr b="0" i="0" lang="en-US" sz="1951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 food_id, restaurant_id, food_name, category, description, price, vegetarian, food_rating</a:t>
            </a:r>
            <a:endParaRPr/>
          </a:p>
        </p:txBody>
      </p:sp>
      <p:sp>
        <p:nvSpPr>
          <p:cNvPr id="506" name="Google Shape;506;p26"/>
          <p:cNvSpPr/>
          <p:nvPr/>
        </p:nvSpPr>
        <p:spPr>
          <a:xfrm>
            <a:off x="1047950" y="3114875"/>
            <a:ext cx="16205930" cy="993457"/>
          </a:xfrm>
          <a:custGeom>
            <a:rect b="b" l="l" r="r" t="t"/>
            <a:pathLst>
              <a:path extrusionOk="0" h="1324610" w="21607907">
                <a:moveTo>
                  <a:pt x="0" y="50800"/>
                </a:moveTo>
                <a:cubicBezTo>
                  <a:pt x="0" y="22733"/>
                  <a:pt x="22733" y="0"/>
                  <a:pt x="50800" y="0"/>
                </a:cubicBezTo>
                <a:lnTo>
                  <a:pt x="21557107" y="0"/>
                </a:lnTo>
                <a:cubicBezTo>
                  <a:pt x="21585174" y="0"/>
                  <a:pt x="21607907" y="22733"/>
                  <a:pt x="21607907" y="50800"/>
                </a:cubicBezTo>
                <a:lnTo>
                  <a:pt x="21607907" y="1273810"/>
                </a:lnTo>
                <a:cubicBezTo>
                  <a:pt x="21607907" y="1301877"/>
                  <a:pt x="21585174" y="1324610"/>
                  <a:pt x="21557107" y="1324610"/>
                </a:cubicBezTo>
                <a:lnTo>
                  <a:pt x="50800" y="1324610"/>
                </a:lnTo>
                <a:cubicBezTo>
                  <a:pt x="22733" y="1324610"/>
                  <a:pt x="0" y="1301877"/>
                  <a:pt x="0" y="1273810"/>
                </a:cubicBezTo>
                <a:close/>
              </a:path>
            </a:pathLst>
          </a:custGeom>
          <a:solidFill>
            <a:srgbClr val="7906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descr="preencoded.png" id="507" name="Google Shape;507;p26"/>
          <p:cNvSpPr/>
          <p:nvPr/>
        </p:nvSpPr>
        <p:spPr>
          <a:xfrm>
            <a:off x="1301744" y="3468919"/>
            <a:ext cx="317278" cy="253841"/>
          </a:xfrm>
          <a:custGeom>
            <a:rect b="b" l="l" r="r" t="t"/>
            <a:pathLst>
              <a:path extrusionOk="0" h="338455" w="423037">
                <a:moveTo>
                  <a:pt x="0" y="0"/>
                </a:moveTo>
                <a:lnTo>
                  <a:pt x="423037" y="0"/>
                </a:lnTo>
                <a:lnTo>
                  <a:pt x="423037" y="338455"/>
                </a:lnTo>
                <a:lnTo>
                  <a:pt x="0" y="3384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15" l="-372" r="-360" t="0"/>
            </a:stretch>
          </a:blipFill>
          <a:ln>
            <a:noFill/>
          </a:ln>
        </p:spPr>
      </p:sp>
      <p:sp>
        <p:nvSpPr>
          <p:cNvPr id="508" name="Google Shape;508;p26"/>
          <p:cNvSpPr txBox="1"/>
          <p:nvPr/>
        </p:nvSpPr>
        <p:spPr>
          <a:xfrm>
            <a:off x="1872777" y="3347885"/>
            <a:ext cx="16042405" cy="475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72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1" u="none" cap="none" strike="noStrike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The restaurant_id column is a Foreign Key that connects the Food_Item table to the Restaurant table, establishing a one-to-many relationship.</a:t>
            </a:r>
            <a:endParaRPr/>
          </a:p>
        </p:txBody>
      </p:sp>
      <p:sp>
        <p:nvSpPr>
          <p:cNvPr id="509" name="Google Shape;509;p26"/>
          <p:cNvSpPr txBox="1"/>
          <p:nvPr/>
        </p:nvSpPr>
        <p:spPr>
          <a:xfrm>
            <a:off x="1047950" y="4308729"/>
            <a:ext cx="17121035" cy="475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72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951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Figure: Food_Item Table – Sample Records</a:t>
            </a:r>
            <a:endParaRPr/>
          </a:p>
        </p:txBody>
      </p:sp>
      <p:sp>
        <p:nvSpPr>
          <p:cNvPr descr="preencoded.png" id="510" name="Google Shape;510;p26"/>
          <p:cNvSpPr/>
          <p:nvPr/>
        </p:nvSpPr>
        <p:spPr>
          <a:xfrm>
            <a:off x="1047950" y="5061137"/>
            <a:ext cx="14488954" cy="4394454"/>
          </a:xfrm>
          <a:custGeom>
            <a:rect b="b" l="l" r="r" t="t"/>
            <a:pathLst>
              <a:path extrusionOk="0" h="5859272" w="19318605">
                <a:moveTo>
                  <a:pt x="0" y="0"/>
                </a:moveTo>
                <a:lnTo>
                  <a:pt x="19318605" y="0"/>
                </a:lnTo>
                <a:lnTo>
                  <a:pt x="19318605" y="5859272"/>
                </a:lnTo>
                <a:lnTo>
                  <a:pt x="0" y="58592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-1" r="-1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27"/>
          <p:cNvSpPr/>
          <p:nvPr/>
        </p:nvSpPr>
        <p:spPr>
          <a:xfrm>
            <a:off x="0" y="0"/>
            <a:ext cx="18301811" cy="10295001"/>
          </a:xfrm>
          <a:custGeom>
            <a:rect b="b" l="l" r="r" t="t"/>
            <a:pathLst>
              <a:path extrusionOk="0" h="13726668" w="24402414">
                <a:moveTo>
                  <a:pt x="0" y="0"/>
                </a:moveTo>
                <a:lnTo>
                  <a:pt x="24402414" y="0"/>
                </a:lnTo>
                <a:lnTo>
                  <a:pt x="24402414" y="13726668"/>
                </a:lnTo>
                <a:lnTo>
                  <a:pt x="0" y="13726668"/>
                </a:lnTo>
                <a:close/>
              </a:path>
            </a:pathLst>
          </a:custGeom>
          <a:solidFill>
            <a:srgbClr val="181A24"/>
          </a:solidFill>
          <a:ln>
            <a:noFill/>
          </a:ln>
        </p:spPr>
      </p:sp>
      <p:sp>
        <p:nvSpPr>
          <p:cNvPr id="520" name="Google Shape;520;p27"/>
          <p:cNvSpPr/>
          <p:nvPr/>
        </p:nvSpPr>
        <p:spPr>
          <a:xfrm>
            <a:off x="0" y="0"/>
            <a:ext cx="18301811" cy="10295001"/>
          </a:xfrm>
          <a:custGeom>
            <a:rect b="b" l="l" r="r" t="t"/>
            <a:pathLst>
              <a:path extrusionOk="0" h="13726668" w="24402414">
                <a:moveTo>
                  <a:pt x="0" y="0"/>
                </a:moveTo>
                <a:lnTo>
                  <a:pt x="24402414" y="0"/>
                </a:lnTo>
                <a:lnTo>
                  <a:pt x="24402414" y="13726668"/>
                </a:lnTo>
                <a:lnTo>
                  <a:pt x="0" y="13726668"/>
                </a:lnTo>
                <a:close/>
              </a:path>
            </a:pathLst>
          </a:custGeom>
          <a:solidFill>
            <a:srgbClr val="252833"/>
          </a:solidFill>
          <a:ln>
            <a:noFill/>
          </a:ln>
        </p:spPr>
      </p:sp>
      <p:sp>
        <p:nvSpPr>
          <p:cNvPr id="521" name="Google Shape;521;p27"/>
          <p:cNvSpPr txBox="1"/>
          <p:nvPr/>
        </p:nvSpPr>
        <p:spPr>
          <a:xfrm>
            <a:off x="1047950" y="1402166"/>
            <a:ext cx="16205949" cy="5875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48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2" u="none" cap="none" strike="noStrike">
                <a:solidFill>
                  <a:srgbClr val="F98AC7"/>
                </a:solidFill>
                <a:latin typeface="Lora"/>
                <a:ea typeface="Lora"/>
                <a:cs typeface="Lora"/>
                <a:sym typeface="Lora"/>
              </a:rPr>
              <a:t>CONCLUSION</a:t>
            </a:r>
            <a:endParaRPr/>
          </a:p>
        </p:txBody>
      </p:sp>
      <p:sp>
        <p:nvSpPr>
          <p:cNvPr id="522" name="Google Shape;522;p27"/>
          <p:cNvSpPr txBox="1"/>
          <p:nvPr/>
        </p:nvSpPr>
        <p:spPr>
          <a:xfrm>
            <a:off x="590398" y="2255939"/>
            <a:ext cx="17121035" cy="3035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37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1" u="none" cap="none" strike="noStrike">
                <a:solidFill>
                  <a:srgbClr val="D97745"/>
                </a:solidFill>
                <a:latin typeface="Source Sans 3"/>
                <a:ea typeface="Source Sans 3"/>
                <a:cs typeface="Source Sans 3"/>
                <a:sym typeface="Source Sans 3"/>
              </a:rPr>
              <a:t>Modern Food-Tech</a:t>
            </a:r>
            <a:r>
              <a:rPr b="0" i="0" lang="en-US" sz="1501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 database project summary and learnings</a:t>
            </a:r>
            <a:endParaRPr/>
          </a:p>
        </p:txBody>
      </p:sp>
      <p:sp>
        <p:nvSpPr>
          <p:cNvPr id="523" name="Google Shape;523;p27"/>
          <p:cNvSpPr/>
          <p:nvPr/>
        </p:nvSpPr>
        <p:spPr>
          <a:xfrm>
            <a:off x="906456" y="2725236"/>
            <a:ext cx="7812595" cy="6158006"/>
          </a:xfrm>
          <a:custGeom>
            <a:rect b="b" l="l" r="r" t="t"/>
            <a:pathLst>
              <a:path extrusionOk="0" h="8210676" w="10416794">
                <a:moveTo>
                  <a:pt x="0" y="39370"/>
                </a:moveTo>
                <a:cubicBezTo>
                  <a:pt x="0" y="17653"/>
                  <a:pt x="17653" y="0"/>
                  <a:pt x="39370" y="0"/>
                </a:cubicBezTo>
                <a:lnTo>
                  <a:pt x="10377424" y="0"/>
                </a:lnTo>
                <a:cubicBezTo>
                  <a:pt x="10399141" y="0"/>
                  <a:pt x="10416794" y="17653"/>
                  <a:pt x="10416794" y="39370"/>
                </a:cubicBezTo>
                <a:lnTo>
                  <a:pt x="10416794" y="8171307"/>
                </a:lnTo>
                <a:cubicBezTo>
                  <a:pt x="10416794" y="8193024"/>
                  <a:pt x="10399141" y="8210676"/>
                  <a:pt x="10377424" y="8210676"/>
                </a:cubicBezTo>
                <a:lnTo>
                  <a:pt x="39370" y="8210676"/>
                </a:lnTo>
                <a:cubicBezTo>
                  <a:pt x="17653" y="8210676"/>
                  <a:pt x="0" y="8193024"/>
                  <a:pt x="0" y="8171307"/>
                </a:cubicBezTo>
                <a:close/>
              </a:path>
            </a:pathLst>
          </a:custGeom>
          <a:solidFill>
            <a:srgbClr val="FFF8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27"/>
          <p:cNvSpPr/>
          <p:nvPr/>
        </p:nvSpPr>
        <p:spPr>
          <a:xfrm>
            <a:off x="1102909" y="2891009"/>
            <a:ext cx="1535810" cy="298513"/>
          </a:xfrm>
          <a:custGeom>
            <a:rect b="b" l="l" r="r" t="t"/>
            <a:pathLst>
              <a:path extrusionOk="0" h="398018" w="2047748">
                <a:moveTo>
                  <a:pt x="0" y="31496"/>
                </a:moveTo>
                <a:cubicBezTo>
                  <a:pt x="0" y="14097"/>
                  <a:pt x="14097" y="0"/>
                  <a:pt x="31496" y="0"/>
                </a:cubicBezTo>
                <a:lnTo>
                  <a:pt x="2016252" y="0"/>
                </a:lnTo>
                <a:cubicBezTo>
                  <a:pt x="2033651" y="0"/>
                  <a:pt x="2047748" y="14097"/>
                  <a:pt x="2047748" y="31496"/>
                </a:cubicBezTo>
                <a:lnTo>
                  <a:pt x="2047748" y="366522"/>
                </a:lnTo>
                <a:cubicBezTo>
                  <a:pt x="2047748" y="383921"/>
                  <a:pt x="2033651" y="398018"/>
                  <a:pt x="2016252" y="398018"/>
                </a:cubicBezTo>
                <a:lnTo>
                  <a:pt x="31496" y="398018"/>
                </a:lnTo>
                <a:cubicBezTo>
                  <a:pt x="14097" y="398018"/>
                  <a:pt x="0" y="383921"/>
                  <a:pt x="0" y="366522"/>
                </a:cubicBezTo>
                <a:close/>
              </a:path>
            </a:pathLst>
          </a:custGeom>
          <a:solidFill>
            <a:srgbClr val="FDCE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27"/>
          <p:cNvSpPr txBox="1"/>
          <p:nvPr/>
        </p:nvSpPr>
        <p:spPr>
          <a:xfrm>
            <a:off x="1220714" y="2959370"/>
            <a:ext cx="2215201" cy="1712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PROJECT SUMMARY</a:t>
            </a:r>
            <a:endParaRPr/>
          </a:p>
        </p:txBody>
      </p:sp>
      <p:sp>
        <p:nvSpPr>
          <p:cNvPr id="526" name="Google Shape;526;p27"/>
          <p:cNvSpPr txBox="1"/>
          <p:nvPr/>
        </p:nvSpPr>
        <p:spPr>
          <a:xfrm>
            <a:off x="1102909" y="3326701"/>
            <a:ext cx="7419632" cy="11283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37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1" u="none" cap="none" strike="noStrike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The Online Food Ordering System successfully demonstrates the design and implementation of a fully relational database using MySQL. The project covers all core aspects of a DBMS mini-project — from ER modeling to schema creation and data population.</a:t>
            </a:r>
            <a:endParaRPr/>
          </a:p>
        </p:txBody>
      </p:sp>
      <p:sp>
        <p:nvSpPr>
          <p:cNvPr id="527" name="Google Shape;527;p27"/>
          <p:cNvSpPr/>
          <p:nvPr/>
        </p:nvSpPr>
        <p:spPr>
          <a:xfrm>
            <a:off x="1098137" y="4616091"/>
            <a:ext cx="1549812" cy="308038"/>
          </a:xfrm>
          <a:custGeom>
            <a:rect b="b" l="l" r="r" t="t"/>
            <a:pathLst>
              <a:path extrusionOk="0" h="410718" w="2066417">
                <a:moveTo>
                  <a:pt x="0" y="32512"/>
                </a:moveTo>
                <a:cubicBezTo>
                  <a:pt x="0" y="14478"/>
                  <a:pt x="14478" y="0"/>
                  <a:pt x="32512" y="0"/>
                </a:cubicBezTo>
                <a:lnTo>
                  <a:pt x="2033905" y="0"/>
                </a:lnTo>
                <a:cubicBezTo>
                  <a:pt x="2051812" y="0"/>
                  <a:pt x="2066417" y="14478"/>
                  <a:pt x="2066417" y="32512"/>
                </a:cubicBezTo>
                <a:lnTo>
                  <a:pt x="2066417" y="378206"/>
                </a:lnTo>
                <a:cubicBezTo>
                  <a:pt x="2066417" y="396113"/>
                  <a:pt x="2051939" y="410718"/>
                  <a:pt x="2033905" y="410718"/>
                </a:cubicBezTo>
                <a:lnTo>
                  <a:pt x="32512" y="410718"/>
                </a:lnTo>
                <a:cubicBezTo>
                  <a:pt x="14478" y="410718"/>
                  <a:pt x="0" y="396113"/>
                  <a:pt x="0" y="378206"/>
                </a:cubicBezTo>
                <a:close/>
              </a:path>
            </a:pathLst>
          </a:custGeom>
          <a:blipFill rotWithShape="1">
            <a:blip r:embed="rId3">
              <a:alphaModFix amt="0"/>
            </a:blip>
            <a:stretch>
              <a:fillRect b="-48027" l="0" r="5" t="-48033"/>
            </a:stretch>
          </a:blipFill>
          <a:ln cap="sq" cmpd="sng" w="9525">
            <a:solidFill>
              <a:srgbClr val="F98AC7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27"/>
          <p:cNvSpPr txBox="1"/>
          <p:nvPr/>
        </p:nvSpPr>
        <p:spPr>
          <a:xfrm>
            <a:off x="1220714" y="4689215"/>
            <a:ext cx="2219668" cy="1712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98AC7"/>
                </a:solidFill>
                <a:latin typeface="Source Sans 3"/>
                <a:ea typeface="Source Sans 3"/>
                <a:cs typeface="Source Sans 3"/>
                <a:sym typeface="Source Sans 3"/>
              </a:rPr>
              <a:t>KEY ACHIEVEMENTS</a:t>
            </a:r>
            <a:endParaRPr/>
          </a:p>
        </p:txBody>
      </p:sp>
      <p:sp>
        <p:nvSpPr>
          <p:cNvPr id="529" name="Google Shape;529;p27"/>
          <p:cNvSpPr txBox="1"/>
          <p:nvPr/>
        </p:nvSpPr>
        <p:spPr>
          <a:xfrm>
            <a:off x="1102909" y="5056537"/>
            <a:ext cx="7419632" cy="12829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35943" lvl="1" marL="271886" marR="0" rtl="0" algn="l">
              <a:lnSpc>
                <a:spcPct val="14037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1"/>
              <a:buFont typeface="Arial"/>
              <a:buChar char="•"/>
            </a:pPr>
            <a:r>
              <a:rPr b="0" i="0" lang="en-US" sz="1501" u="none" cap="none" strike="noStrike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Designed a normalized relational schema with six interconnected tables</a:t>
            </a:r>
            <a:endParaRPr/>
          </a:p>
          <a:p>
            <a:pPr indent="-135943" lvl="1" marL="271886" marR="0" rtl="0" algn="l">
              <a:lnSpc>
                <a:spcPct val="14037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1"/>
              <a:buFont typeface="Arial"/>
              <a:buChar char="•"/>
            </a:pPr>
            <a:r>
              <a:rPr b="0" i="0" lang="en-US" sz="1501" u="none" cap="none" strike="noStrike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Established Primary Key–Foreign Key relationships across all entities</a:t>
            </a:r>
            <a:endParaRPr/>
          </a:p>
          <a:p>
            <a:pPr indent="-135943" lvl="1" marL="271886" marR="0" rtl="0" algn="l">
              <a:lnSpc>
                <a:spcPct val="14037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1"/>
              <a:buFont typeface="Arial"/>
              <a:buChar char="•"/>
            </a:pPr>
            <a:r>
              <a:rPr b="0" i="0" lang="en-US" sz="1501" u="none" cap="none" strike="noStrike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Maintained referential integrity and data consistency throughout</a:t>
            </a:r>
            <a:endParaRPr/>
          </a:p>
          <a:p>
            <a:pPr indent="-135943" lvl="1" marL="271886" marR="0" rtl="0" algn="l">
              <a:lnSpc>
                <a:spcPct val="14037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1"/>
              <a:buFont typeface="Arial"/>
              <a:buChar char="•"/>
            </a:pPr>
            <a:r>
              <a:rPr b="0" i="0" lang="en-US" sz="1501" u="none" cap="none" strike="noStrike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Implemented and tested the database using MySQL Command Line</a:t>
            </a:r>
            <a:endParaRPr/>
          </a:p>
        </p:txBody>
      </p:sp>
      <p:sp>
        <p:nvSpPr>
          <p:cNvPr id="530" name="Google Shape;530;p27"/>
          <p:cNvSpPr/>
          <p:nvPr/>
        </p:nvSpPr>
        <p:spPr>
          <a:xfrm>
            <a:off x="9066324" y="2891009"/>
            <a:ext cx="1699260" cy="298513"/>
          </a:xfrm>
          <a:custGeom>
            <a:rect b="b" l="l" r="r" t="t"/>
            <a:pathLst>
              <a:path extrusionOk="0" h="398018" w="2265680">
                <a:moveTo>
                  <a:pt x="0" y="31496"/>
                </a:moveTo>
                <a:cubicBezTo>
                  <a:pt x="0" y="14097"/>
                  <a:pt x="14097" y="0"/>
                  <a:pt x="31496" y="0"/>
                </a:cubicBezTo>
                <a:lnTo>
                  <a:pt x="2234184" y="0"/>
                </a:lnTo>
                <a:cubicBezTo>
                  <a:pt x="2251583" y="0"/>
                  <a:pt x="2265680" y="14097"/>
                  <a:pt x="2265680" y="31496"/>
                </a:cubicBezTo>
                <a:lnTo>
                  <a:pt x="2265680" y="366522"/>
                </a:lnTo>
                <a:cubicBezTo>
                  <a:pt x="2265680" y="383921"/>
                  <a:pt x="2251583" y="398018"/>
                  <a:pt x="2234184" y="398018"/>
                </a:cubicBezTo>
                <a:lnTo>
                  <a:pt x="31496" y="398018"/>
                </a:lnTo>
                <a:cubicBezTo>
                  <a:pt x="14097" y="398018"/>
                  <a:pt x="0" y="383921"/>
                  <a:pt x="0" y="366522"/>
                </a:cubicBezTo>
                <a:close/>
              </a:path>
            </a:pathLst>
          </a:custGeom>
          <a:solidFill>
            <a:srgbClr val="4904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1" name="Google Shape;531;p27"/>
          <p:cNvSpPr txBox="1"/>
          <p:nvPr/>
        </p:nvSpPr>
        <p:spPr>
          <a:xfrm>
            <a:off x="9184138" y="2959370"/>
            <a:ext cx="2378735" cy="1712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LEARNING OUTCOMES</a:t>
            </a:r>
            <a:endParaRPr/>
          </a:p>
        </p:txBody>
      </p:sp>
      <p:sp>
        <p:nvSpPr>
          <p:cNvPr descr="preencoded.png" id="532" name="Google Shape;532;p27"/>
          <p:cNvSpPr/>
          <p:nvPr/>
        </p:nvSpPr>
        <p:spPr>
          <a:xfrm>
            <a:off x="9066324" y="3355276"/>
            <a:ext cx="8196958" cy="1436275"/>
          </a:xfrm>
          <a:custGeom>
            <a:rect b="b" l="l" r="r" t="t"/>
            <a:pathLst>
              <a:path extrusionOk="0" h="1436275" w="8196958">
                <a:moveTo>
                  <a:pt x="0" y="0"/>
                </a:moveTo>
                <a:lnTo>
                  <a:pt x="8196957" y="0"/>
                </a:lnTo>
                <a:lnTo>
                  <a:pt x="8196957" y="1436275"/>
                </a:lnTo>
                <a:lnTo>
                  <a:pt x="0" y="14362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376" l="0" r="0" t="-376"/>
            </a:stretch>
          </a:blipFill>
          <a:ln>
            <a:noFill/>
          </a:ln>
        </p:spPr>
      </p:sp>
      <p:sp>
        <p:nvSpPr>
          <p:cNvPr id="533" name="Google Shape;533;p27"/>
          <p:cNvSpPr txBox="1"/>
          <p:nvPr/>
        </p:nvSpPr>
        <p:spPr>
          <a:xfrm>
            <a:off x="9405757" y="3570799"/>
            <a:ext cx="7632468" cy="298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8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1" u="none" cap="none" strike="noStrike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ER Modeling</a:t>
            </a:r>
            <a:endParaRPr/>
          </a:p>
        </p:txBody>
      </p:sp>
      <p:sp>
        <p:nvSpPr>
          <p:cNvPr id="534" name="Google Shape;534;p27"/>
          <p:cNvSpPr txBox="1"/>
          <p:nvPr/>
        </p:nvSpPr>
        <p:spPr>
          <a:xfrm>
            <a:off x="9405757" y="3988013"/>
            <a:ext cx="7632468" cy="578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37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1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Translated real-world food ordering requirements into a structured entity-relationship diagram.</a:t>
            </a:r>
            <a:endParaRPr/>
          </a:p>
        </p:txBody>
      </p:sp>
      <p:sp>
        <p:nvSpPr>
          <p:cNvPr descr="preencoded.png" id="535" name="Google Shape;535;p27"/>
          <p:cNvSpPr/>
          <p:nvPr/>
        </p:nvSpPr>
        <p:spPr>
          <a:xfrm>
            <a:off x="9066324" y="4938855"/>
            <a:ext cx="8196958" cy="1161317"/>
          </a:xfrm>
          <a:custGeom>
            <a:rect b="b" l="l" r="r" t="t"/>
            <a:pathLst>
              <a:path extrusionOk="0" h="1161317" w="8196958">
                <a:moveTo>
                  <a:pt x="0" y="0"/>
                </a:moveTo>
                <a:lnTo>
                  <a:pt x="8196957" y="0"/>
                </a:lnTo>
                <a:lnTo>
                  <a:pt x="8196957" y="1161317"/>
                </a:lnTo>
                <a:lnTo>
                  <a:pt x="0" y="11613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416" l="0" r="0" t="-416"/>
            </a:stretch>
          </a:blipFill>
          <a:ln>
            <a:noFill/>
          </a:ln>
        </p:spPr>
      </p:sp>
      <p:sp>
        <p:nvSpPr>
          <p:cNvPr id="536" name="Google Shape;536;p27"/>
          <p:cNvSpPr txBox="1"/>
          <p:nvPr/>
        </p:nvSpPr>
        <p:spPr>
          <a:xfrm>
            <a:off x="9405757" y="5154378"/>
            <a:ext cx="7632468" cy="298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8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1" u="none" cap="none" strike="noStrike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Schema Design</a:t>
            </a:r>
            <a:endParaRPr/>
          </a:p>
        </p:txBody>
      </p:sp>
      <p:sp>
        <p:nvSpPr>
          <p:cNvPr id="537" name="Google Shape;537;p27"/>
          <p:cNvSpPr txBox="1"/>
          <p:nvPr/>
        </p:nvSpPr>
        <p:spPr>
          <a:xfrm>
            <a:off x="9405757" y="5571592"/>
            <a:ext cx="7632468" cy="3035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37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1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Applied normalization principles to eliminate redundancy and ensure data integrity.</a:t>
            </a:r>
            <a:endParaRPr/>
          </a:p>
        </p:txBody>
      </p:sp>
      <p:sp>
        <p:nvSpPr>
          <p:cNvPr descr="preencoded.png" id="538" name="Google Shape;538;p27"/>
          <p:cNvSpPr/>
          <p:nvPr/>
        </p:nvSpPr>
        <p:spPr>
          <a:xfrm>
            <a:off x="9066324" y="6247476"/>
            <a:ext cx="8196958" cy="1161317"/>
          </a:xfrm>
          <a:custGeom>
            <a:rect b="b" l="l" r="r" t="t"/>
            <a:pathLst>
              <a:path extrusionOk="0" h="1161317" w="8196958">
                <a:moveTo>
                  <a:pt x="0" y="0"/>
                </a:moveTo>
                <a:lnTo>
                  <a:pt x="8196957" y="0"/>
                </a:lnTo>
                <a:lnTo>
                  <a:pt x="8196957" y="1161317"/>
                </a:lnTo>
                <a:lnTo>
                  <a:pt x="0" y="11613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416" l="0" r="0" t="-416"/>
            </a:stretch>
          </a:blipFill>
          <a:ln>
            <a:noFill/>
          </a:ln>
        </p:spPr>
      </p:sp>
      <p:sp>
        <p:nvSpPr>
          <p:cNvPr id="539" name="Google Shape;539;p27"/>
          <p:cNvSpPr txBox="1"/>
          <p:nvPr/>
        </p:nvSpPr>
        <p:spPr>
          <a:xfrm>
            <a:off x="9405757" y="6463008"/>
            <a:ext cx="7632468" cy="298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8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1" u="none" cap="none" strike="noStrike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SQL Implementation</a:t>
            </a:r>
            <a:endParaRPr/>
          </a:p>
        </p:txBody>
      </p:sp>
      <p:sp>
        <p:nvSpPr>
          <p:cNvPr id="540" name="Google Shape;540;p27"/>
          <p:cNvSpPr txBox="1"/>
          <p:nvPr/>
        </p:nvSpPr>
        <p:spPr>
          <a:xfrm>
            <a:off x="9405757" y="6880212"/>
            <a:ext cx="7632468" cy="3035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37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1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Gained hands-on experience with DDL and DML operations in a real MySQL environment.</a:t>
            </a:r>
            <a:endParaRPr/>
          </a:p>
        </p:txBody>
      </p:sp>
      <p:sp>
        <p:nvSpPr>
          <p:cNvPr descr="preencoded.png" id="541" name="Google Shape;541;p27"/>
          <p:cNvSpPr/>
          <p:nvPr/>
        </p:nvSpPr>
        <p:spPr>
          <a:xfrm>
            <a:off x="9066324" y="7556106"/>
            <a:ext cx="8196958" cy="1161317"/>
          </a:xfrm>
          <a:custGeom>
            <a:rect b="b" l="l" r="r" t="t"/>
            <a:pathLst>
              <a:path extrusionOk="0" h="1161317" w="8196958">
                <a:moveTo>
                  <a:pt x="0" y="0"/>
                </a:moveTo>
                <a:lnTo>
                  <a:pt x="8196957" y="0"/>
                </a:lnTo>
                <a:lnTo>
                  <a:pt x="8196957" y="1161317"/>
                </a:lnTo>
                <a:lnTo>
                  <a:pt x="0" y="11613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416" l="0" r="0" t="-416"/>
            </a:stretch>
          </a:blipFill>
          <a:ln>
            <a:noFill/>
          </a:ln>
        </p:spPr>
      </p:sp>
      <p:sp>
        <p:nvSpPr>
          <p:cNvPr id="542" name="Google Shape;542;p27"/>
          <p:cNvSpPr txBox="1"/>
          <p:nvPr/>
        </p:nvSpPr>
        <p:spPr>
          <a:xfrm>
            <a:off x="9405757" y="7771628"/>
            <a:ext cx="7632468" cy="298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8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1" u="none" cap="none" strike="noStrike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Relational Concepts</a:t>
            </a:r>
            <a:endParaRPr/>
          </a:p>
        </p:txBody>
      </p:sp>
      <p:sp>
        <p:nvSpPr>
          <p:cNvPr id="543" name="Google Shape;543;p27"/>
          <p:cNvSpPr txBox="1"/>
          <p:nvPr/>
        </p:nvSpPr>
        <p:spPr>
          <a:xfrm>
            <a:off x="9405757" y="8188843"/>
            <a:ext cx="7632468" cy="3035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37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1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Reinforced understanding of PK–FK constraints, joins, and relational algebra in practice.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